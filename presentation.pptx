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4b98009-e25a-20f9-c254-21573bb94308}">
          <p14:sldIdLst>
            <p14:sldId id="256"/>
            <p14:sldId id="257"/>
            <p14:sldId id="258"/>
            <p14:sldId id="259"/>
          </p14:sldIdLst>
        </p14:section>
        <p14:section name="Purpose" id="{b09db582-9948-8765-cae6-f213b1bbf6b4}">
          <p14:sldIdLst>
            <p14:sldId id="260"/>
          </p14:sldIdLst>
        </p14:section>
        <p14:section name="Tasks" id="{41fa2b80-da64-911d-7b16-2356e7647f34}">
          <p14:sldIdLst>
            <p14:sldId id="261"/>
            <p14:sldId id="262"/>
            <p14:sldId id="263"/>
            <p14:sldId id="264"/>
          </p14:sldIdLst>
        </p14:section>
        <p14:section name="Results" id="{d07d48dc-7af9-238a-7f87-3374bc427bd7}">
          <p14:sldIdLst>
            <p14:sldId id="265"/>
            <p14:sldId id="266"/>
            <p14:sldId id="267"/>
            <p14:sldId id="268"/>
            <p14:sldId id="269"/>
          </p14:sldIdLst>
        </p14:section>
        <p14:section name="Outcome" id="{ffa0fed3-8173-d47d-be75-3f5881496296}">
          <p14:sldIdLst>
            <p14:sldId id="270"/>
            <p14:sldId id="271"/>
          </p14:sldIdLst>
        </p14:section>
        <p14:section name="Conclusion" id="{c94159b1-8053-9565-7d68-9e7d7483f5e0}">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page. Project: North Pit Digital Twin, team Ademix, authors Ahmad Shah Yawar and Gulzat Turken. The picture is a real capture of the running stand, not a render: everything on it is twin state returned through Eclipse Ditto every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Team’s own concept from SUBMISSION.md. The user is the dispatcher; the decision is the response to a disruption. Everything else in the deck follows from this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follows the competition announcement: a digital model of a mine or its facilities on OpenEgiz, simulation of equipment and transportation, data analysis, performance prediction and what-if scenarios. Each entry points to a later slide and to something visible on the running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parameter carries its provenance. The truck payload and shovel pass come from OpenMines; the loading time is derived from them; the route length, ROM bin and crusher capacity are team planning assumptions, not site or manufacturer figures. A free round trip takes about 22.4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objective is met: O1 on the scenario and prediction slides; O2 on the Smart Dispatch slide; O3 on the breakdown slide and the results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task maps to a part of the running stand. The next three slides show how tasks 1 to 4 were built; the Results section shows what tasks 5 to 7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3D scene is not a separate animation: it draws only what the API returns from Ditto. Controls go the other way: a scenario or dispatch request changes the engine, and the UI waits for the returned twin state to confirm it. The read-only smoke check verifies the Ditto source, all 11 twins and all 143 fields with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relationship contract has exactly 11 nodes and 38 directed edges, and every endpoint resolves to a seeded twin. Each node shows that twin’s returned state, or “State unavailable” if the field is missing; nothing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reads its values from the returned Eclipse Ditto twins or from versioned evidence; none runs its own animation of the outcome. Fuel and CO₂ are comparable-equipment estimates, not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model results, not mine measurements. The breakdown’s steady row hides its transient cost: in the common returning-lane case the first hour falls from 770 to 691 t/h. The road restriction removes the loading queue because trucks spend their time travelling; the crusher slowdown moves the queue to the dump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 supply = active trucks × 77 t × 3,600 ÷ (6 min loading + 1 min dumping + two-way travel time). Under the road restriction: 6 × 77 × 3,600 ÷ 2,569 s = 647.4 t/h, against 645.3 t/h simulated. The test suite checks that the simulation converges to the prediction within ±2 % over 16 h in every scenario. This agreement verifies the implementation; it is not a validation against a real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effect” focuses the affected place and builds the causal chain from returned twin fields: the blocked lane comes from road-main.blockage_lane, never from screen position. A failure in a queue or bay blocks nothing, and the alert says so. HT-01 stays out of service until Normal operations is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Dispatch computes how many trucks the active bottleneck needs and parks surplus empty trucks on a ready line; it releases them when a truck is lost, the road slows or the policy is switched off. Under the road restriction the model would need eight trucks, so all six keep cycling and there is nothing to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smoke_check.py (Ditto source, 11 twins, 143 fields and units); verify_scenarios.py (fixed and Smart Dispatch with baseline, breakdown, road restriction and crusher slowdown, then reset with no stale breakdown, blockage or standby state); the engine’s four-part mass balance, which stays at zero in every scenario; fixed_vs_smart.json and production_recovery.json for the savings and the breakdown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see each point on the stand: 1 the Decision button and its Apply control; 2 Scenario C, Smart dispatch, with the required, cycling and parked counts; 3 Truck HT-01 breakdown, then Show effect; 4 Fixed vs Smart evidence and the Breakdown timeline; 5 the model credibility section inside the Decision workspace; 6 the Mine model button. The fleet-size rule is required trucks = ceil(bottleneck capacity × free cycle time ÷ (77 t × 3,600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 wall in the 3D scene is generated from these illustrative values (PIT_DESIGN in TerrainStage.tsx). A 45° overall slope with 10 m benches at 70° implies a catch berm of about 6.4 m, derived only to keep the slope consistent; the actual berm width is left to the site’s project design. The Specifications layer in the app shows the same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message: a complete, live, decision-first twin whose every number can be traced and checked. The scope line repeats the model-truth contract so no slide overstates what the model is. Repository: github.com/openegiz-contest/team-111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PAGE">
    <p:bg>
      <p:bgPr>
        <a:solidFill>
          <a:srgbClr val="F3EFE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685800" y="6355080"/>
            <a:ext cx="8229600" cy="274320"/>
          </a:xfrm>
          <a:prstGeom prst="rect">
            <a:avLst/>
          </a:prstGeom>
          <a:noFill/>
          <a:ln/>
        </p:spPr>
        <p:txBody>
          <a:bodyPr wrap="square" lIns="0" tIns="0" rIns="0" bIns="0" rtlCol="0" anchor="ctr"/>
          <a:lstStyle/>
          <a:p>
            <a:pPr indent="0" marL="0">
              <a:buNone/>
            </a:pPr>
            <a:r>
              <a:rPr lang="en-US" sz="1100" dirty="0">
                <a:solidFill>
                  <a:srgbClr val="5E6D68"/>
                </a:solidFill>
                <a:latin typeface="Calibri" pitchFamily="34" charset="0"/>
                <a:ea typeface="Calibri" pitchFamily="34" charset="-122"/>
                <a:cs typeface="Calibri" pitchFamily="34" charset="-120"/>
              </a:rPr>
              <a:t>Team Ademix  |  North Pit Digital Twin</a:t>
            </a:r>
            <a:endParaRPr lang="en-US" sz="1100" dirty="0"/>
          </a:p>
        </p:txBody>
      </p:sp>
      <p:sp>
        <p:nvSpPr>
          <p:cNvPr id="3" name="Text 1"/>
          <p:cNvSpPr/>
          <p:nvPr>
            <p:ph idx="101" type="body" hasCustomPrompt="1"/>
          </p:nvPr>
        </p:nvSpPr>
        <p:spPr>
          <a:xfrm>
            <a:off x="685800" y="457200"/>
            <a:ext cx="10820095" cy="292608"/>
          </a:xfrm>
          <a:prstGeom prst="rect">
            <a:avLst/>
          </a:prstGeom>
          <a:noFill/>
          <a:ln/>
        </p:spPr>
        <p:txBody>
          <a:bodyPr wrap="square" rtlCol="0"/>
          <a:lstStyle>
            <a:lvl1pPr indent="0" marL="0">
              <a:buNone/>
              <a:defRPr lang="en-US" sz="1300" b="1" spc="100" kern="0" dirty="0">
                <a:solidFill>
                  <a:srgbClr val="0F7D72"/>
                </a:solidFill>
                <a:latin typeface="Calibri" pitchFamily="34" charset="0"/>
                <a:ea typeface="Calibri" pitchFamily="34" charset="-122"/>
                <a:cs typeface="Calibri" pitchFamily="34" charset="-120"/>
              </a:defRPr>
            </a:lvl1pPr>
          </a:lstStyle>
          <a:p>
            <a:pPr indent="0" marL="0">
              <a:buNone/>
            </a:pPr>
            <a:endParaRPr lang="en-US" sz="1300" dirty="0"/>
          </a:p>
        </p:txBody>
      </p:sp>
      <p:sp>
        <p:nvSpPr>
          <p:cNvPr id="4" name="Text 1"/>
          <p:cNvSpPr/>
          <p:nvPr>
            <p:ph idx="102" type="title" hasCustomPrompt="1"/>
          </p:nvPr>
        </p:nvSpPr>
        <p:spPr>
          <a:xfrm>
            <a:off x="685800" y="777240"/>
            <a:ext cx="10820095" cy="868680"/>
          </a:xfrm>
          <a:prstGeom prst="rect">
            <a:avLst/>
          </a:prstGeom>
          <a:noFill/>
          <a:ln/>
        </p:spPr>
        <p:txBody>
          <a:bodyPr wrap="square" rtlCol="0"/>
          <a:lstStyle>
            <a:lvl1pPr algn="l" indent="0" marL="0">
              <a:buNone/>
              <a:defRPr lang="en-US" sz="3000" b="1" dirty="0">
                <a:solidFill>
                  <a:srgbClr val="14201C"/>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731520"/>
            <a:ext cx="6035040" cy="320040"/>
          </a:xfrm>
          <a:prstGeom prst="rect">
            <a:avLst/>
          </a:prstGeom>
          <a:noFill/>
          <a:ln/>
        </p:spPr>
        <p:txBody>
          <a:bodyPr wrap="square" lIns="0" tIns="0" rIns="0" bIns="0" rtlCol="0" anchor="t"/>
          <a:lstStyle/>
          <a:p>
            <a:pPr indent="0" marL="0">
              <a:lnSpc>
                <a:spcPct val="112000"/>
              </a:lnSpc>
              <a:buNone/>
            </a:pPr>
            <a:r>
              <a:rPr lang="en-US" sz="1300" b="1" spc="100" kern="0" dirty="0">
                <a:solidFill>
                  <a:srgbClr val="0F7D72"/>
                </a:solidFill>
                <a:latin typeface="Calibri" pitchFamily="34" charset="0"/>
                <a:ea typeface="Calibri" pitchFamily="34" charset="-122"/>
                <a:cs typeface="Calibri" pitchFamily="34" charset="-120"/>
              </a:rPr>
              <a:t>DIGITAL MINE ON OPENEGIZ 2026</a:t>
            </a:r>
            <a:endParaRPr lang="en-US" sz="1300" dirty="0"/>
          </a:p>
        </p:txBody>
      </p:sp>
      <p:sp>
        <p:nvSpPr>
          <p:cNvPr id="3" name="Text 1"/>
          <p:cNvSpPr txBox="1"/>
          <p:nvPr/>
        </p:nvSpPr>
        <p:spPr>
          <a:xfrm>
            <a:off x="685800" y="1234440"/>
            <a:ext cx="5852160" cy="1508760"/>
          </a:xfrm>
          <a:prstGeom prst="rect">
            <a:avLst/>
          </a:prstGeom>
          <a:noFill/>
          <a:ln/>
        </p:spPr>
        <p:txBody>
          <a:bodyPr wrap="square" lIns="0" tIns="0" rIns="0" bIns="0" rtlCol="0" anchor="t"/>
          <a:lstStyle/>
          <a:p>
            <a:pPr indent="0" marL="0">
              <a:lnSpc>
                <a:spcPct val="112000"/>
              </a:lnSpc>
              <a:buNone/>
            </a:pPr>
            <a:r>
              <a:rPr lang="en-US" sz="4800" b="1" dirty="0">
                <a:solidFill>
                  <a:srgbClr val="14201C"/>
                </a:solidFill>
                <a:latin typeface="Calibri" pitchFamily="34" charset="0"/>
                <a:ea typeface="Calibri" pitchFamily="34" charset="-122"/>
                <a:cs typeface="Calibri" pitchFamily="34" charset="-120"/>
              </a:rPr>
              <a:t>North Pit Digital Twin</a:t>
            </a:r>
            <a:endParaRPr lang="en-US" sz="4800" dirty="0"/>
          </a:p>
        </p:txBody>
      </p:sp>
      <p:sp>
        <p:nvSpPr>
          <p:cNvPr id="4" name="Text 2"/>
          <p:cNvSpPr txBox="1"/>
          <p:nvPr/>
        </p:nvSpPr>
        <p:spPr>
          <a:xfrm>
            <a:off x="685800" y="2788920"/>
            <a:ext cx="5669280" cy="1143000"/>
          </a:xfrm>
          <a:prstGeom prst="rect">
            <a:avLst/>
          </a:prstGeom>
          <a:noFill/>
          <a:ln/>
        </p:spPr>
        <p:txBody>
          <a:bodyPr wrap="square" lIns="0" tIns="0" rIns="0" bIns="0" rtlCol="0" anchor="t"/>
          <a:lstStyle/>
          <a:p>
            <a:pPr indent="0" marL="0">
              <a:lnSpc>
                <a:spcPct val="112000"/>
              </a:lnSpc>
              <a:buNone/>
            </a:pPr>
            <a:r>
              <a:rPr lang="en-US" sz="1800" dirty="0">
                <a:solidFill>
                  <a:srgbClr val="3F4E49"/>
                </a:solidFill>
                <a:latin typeface="Calibri" pitchFamily="34" charset="0"/>
                <a:ea typeface="Calibri" pitchFamily="34" charset="-122"/>
                <a:cs typeface="Calibri" pitchFamily="34" charset="-120"/>
              </a:rPr>
              <a:t>A live 3D digital twin of an open pit’s loading, haulage and crusher chain on the OpenEgiz platform, built to show the dispatcher what limits output and what to do next.</a:t>
            </a:r>
            <a:endParaRPr lang="en-US" sz="1800" dirty="0"/>
          </a:p>
        </p:txBody>
      </p:sp>
      <p:sp>
        <p:nvSpPr>
          <p:cNvPr id="5" name="Text 3"/>
          <p:cNvSpPr txBox="1"/>
          <p:nvPr/>
        </p:nvSpPr>
        <p:spPr>
          <a:xfrm>
            <a:off x="685800" y="4160520"/>
            <a:ext cx="2743200"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TEAM</a:t>
            </a:r>
            <a:endParaRPr lang="en-US" sz="1200" dirty="0"/>
          </a:p>
        </p:txBody>
      </p:sp>
      <p:sp>
        <p:nvSpPr>
          <p:cNvPr id="6" name="Text 4"/>
          <p:cNvSpPr txBox="1"/>
          <p:nvPr/>
        </p:nvSpPr>
        <p:spPr>
          <a:xfrm>
            <a:off x="685800" y="4434840"/>
            <a:ext cx="5486400" cy="411480"/>
          </a:xfrm>
          <a:prstGeom prst="rect">
            <a:avLst/>
          </a:prstGeom>
          <a:noFill/>
          <a:ln/>
        </p:spPr>
        <p:txBody>
          <a:bodyPr wrap="square" lIns="0" tIns="0" rIns="0" bIns="0" rtlCol="0" anchor="t"/>
          <a:lstStyle/>
          <a:p>
            <a:pPr indent="0" marL="0">
              <a:lnSpc>
                <a:spcPct val="112000"/>
              </a:lnSpc>
              <a:buNone/>
            </a:pPr>
            <a:r>
              <a:rPr lang="en-US" sz="2400" b="1" dirty="0">
                <a:solidFill>
                  <a:srgbClr val="14201C"/>
                </a:solidFill>
                <a:latin typeface="Calibri" pitchFamily="34" charset="0"/>
                <a:ea typeface="Calibri" pitchFamily="34" charset="-122"/>
                <a:cs typeface="Calibri" pitchFamily="34" charset="-120"/>
              </a:rPr>
              <a:t>Ademix</a:t>
            </a:r>
            <a:endParaRPr lang="en-US" sz="2400" dirty="0"/>
          </a:p>
        </p:txBody>
      </p:sp>
      <p:sp>
        <p:nvSpPr>
          <p:cNvPr id="7" name="Text 5"/>
          <p:cNvSpPr txBox="1"/>
          <p:nvPr/>
        </p:nvSpPr>
        <p:spPr>
          <a:xfrm>
            <a:off x="685800" y="5029200"/>
            <a:ext cx="2743200"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AUTHORS</a:t>
            </a:r>
            <a:endParaRPr lang="en-US" sz="1200" dirty="0"/>
          </a:p>
        </p:txBody>
      </p:sp>
      <p:sp>
        <p:nvSpPr>
          <p:cNvPr id="8" name="Text 6"/>
          <p:cNvSpPr txBox="1"/>
          <p:nvPr/>
        </p:nvSpPr>
        <p:spPr>
          <a:xfrm>
            <a:off x="685800" y="5303520"/>
            <a:ext cx="5486400" cy="73152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Ahmad Shah Yawar</a:t>
            </a:r>
            <a:endParaRPr lang="en-US" sz="2000" dirty="0"/>
          </a:p>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Gulzat Turken</a:t>
            </a:r>
            <a:endParaRPr lang="en-US" sz="2000" dirty="0"/>
          </a:p>
        </p:txBody>
      </p:sp>
      <p:pic>
        <p:nvPicPr>
          <p:cNvPr id="9" name="Image 0" descr="Live capture of the Ademix 3D command center: the North Pit open-pit mine with haul trucks, crusher and the scenario panel, LIVE through Eclipse Ditto">    </p:cNvPr>
          <p:cNvPicPr>
            <a:picLocks noChangeAspect="1"/>
          </p:cNvPicPr>
          <p:nvPr/>
        </p:nvPicPr>
        <p:blipFill>
          <a:blip r:embed="rId1"/>
          <a:stretch>
            <a:fillRect/>
          </a:stretch>
        </p:blipFill>
        <p:spPr>
          <a:xfrm>
            <a:off x="6720840" y="1463040"/>
            <a:ext cx="4800600" cy="2700223"/>
          </a:xfrm>
          <a:prstGeom prst="rect">
            <a:avLst/>
          </a:prstGeom>
          <a:effectLst>
            <a:outerShdw sx="100000" sy="100000" kx="0" ky="0" algn="bl" rotWithShape="0" blurRad="152400" dist="50800" dir="5400000">
              <a:srgbClr val="14201C">
                <a:alpha val="20000"/>
              </a:srgbClr>
            </a:outerShdw>
          </a:effectLst>
        </p:spPr>
      </p:pic>
      <p:sp>
        <p:nvSpPr>
          <p:cNvPr id="10" name="Text 7"/>
          <p:cNvSpPr txBox="1"/>
          <p:nvPr/>
        </p:nvSpPr>
        <p:spPr>
          <a:xfrm>
            <a:off x="6720840" y="4251960"/>
            <a:ext cx="4800600" cy="274320"/>
          </a:xfrm>
          <a:prstGeom prst="rect">
            <a:avLst/>
          </a:prstGeom>
          <a:noFill/>
          <a:ln/>
        </p:spPr>
        <p:txBody>
          <a:bodyPr wrap="square" lIns="0" tIns="0" rIns="0" bIns="0" rtlCol="0" anchor="t"/>
          <a:lstStyle/>
          <a:p>
            <a:pPr indent="0" marL="0">
              <a:lnSpc>
                <a:spcPct val="112000"/>
              </a:lnSpc>
              <a:buNone/>
            </a:pPr>
            <a:r>
              <a:rPr lang="en-US" sz="1100" dirty="0">
                <a:solidFill>
                  <a:srgbClr val="5E6D68"/>
                </a:solidFill>
                <a:latin typeface="Calibri" pitchFamily="34" charset="0"/>
                <a:ea typeface="Calibri" pitchFamily="34" charset="-122"/>
                <a:cs typeface="Calibri" pitchFamily="34" charset="-120"/>
              </a:rPr>
              <a:t>Live capture of the running stand (Eclipse Ditto)</a:t>
            </a:r>
            <a:endParaRPr lang="en-US" sz="1100" dirty="0"/>
          </a:p>
        </p:txBody>
      </p:sp>
      <p:sp>
        <p:nvSpPr>
          <p:cNvPr id="11" name="Text 8"/>
          <p:cNvSpPr txBox="1"/>
          <p:nvPr/>
        </p:nvSpPr>
        <p:spPr>
          <a:xfrm>
            <a:off x="6720840" y="4572000"/>
            <a:ext cx="4800600" cy="274320"/>
          </a:xfrm>
          <a:prstGeom prst="rect">
            <a:avLst/>
          </a:prstGeom>
          <a:noFill/>
          <a:ln/>
        </p:spPr>
        <p:txBody>
          <a:bodyPr wrap="square" lIns="0" tIns="0" rIns="0" bIns="0" rtlCol="0" anchor="t"/>
          <a:lstStyle/>
          <a:p>
            <a:pPr indent="0" marL="0">
              <a:lnSpc>
                <a:spcPct val="112000"/>
              </a:lnSpc>
              <a:buNone/>
            </a:pPr>
            <a:r>
              <a:rPr lang="en-US" sz="1200" dirty="0">
                <a:solidFill>
                  <a:srgbClr val="5E6D68"/>
                </a:solidFill>
                <a:latin typeface="Calibri" pitchFamily="34" charset="0"/>
                <a:ea typeface="Calibri" pitchFamily="34" charset="-122"/>
                <a:cs typeface="Calibri" pitchFamily="34" charset="-120"/>
              </a:rPr>
              <a:t>Built with Eclipse Ditto, MQTT, React Three Fiber and Python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INTRODUCTION</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OPERATIONAL CONTEXT AND DECISION PROBLEM</a:t>
            </a:r>
            <a:endParaRPr lang="en-US" sz="3000" dirty="0"/>
          </a:p>
        </p:txBody>
      </p:sp>
      <p:sp>
        <p:nvSpPr>
          <p:cNvPr id="4" name="Shape 2"/>
          <p:cNvSpPr/>
          <p:nvPr/>
        </p:nvSpPr>
        <p:spPr>
          <a:xfrm>
            <a:off x="685800" y="1828800"/>
            <a:ext cx="3423818" cy="3017520"/>
          </a:xfrm>
          <a:prstGeom prst="roundRect">
            <a:avLst>
              <a:gd name="adj" fmla="val 2424"/>
            </a:avLst>
          </a:prstGeom>
          <a:solidFill>
            <a:srgbClr val="FBF9F4"/>
          </a:solidFill>
          <a:ln w="9525">
            <a:solidFill>
              <a:srgbClr val="D9D2C3"/>
            </a:solidFill>
            <a:prstDash val="solid"/>
          </a:ln>
        </p:spPr>
      </p:sp>
      <p:sp>
        <p:nvSpPr>
          <p:cNvPr id="5" name="Text 3"/>
          <p:cNvSpPr txBox="1"/>
          <p:nvPr/>
        </p:nvSpPr>
        <p:spPr>
          <a:xfrm>
            <a:off x="960120" y="2103120"/>
            <a:ext cx="2875178"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WHO</a:t>
            </a:r>
            <a:endParaRPr lang="en-US" sz="1200" dirty="0"/>
          </a:p>
        </p:txBody>
      </p:sp>
      <p:sp>
        <p:nvSpPr>
          <p:cNvPr id="6" name="Text 4"/>
          <p:cNvSpPr txBox="1"/>
          <p:nvPr/>
        </p:nvSpPr>
        <p:spPr>
          <a:xfrm>
            <a:off x="960120" y="2423160"/>
            <a:ext cx="2875178" cy="77724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The mine dispatcher and shift supervisor</a:t>
            </a:r>
            <a:endParaRPr lang="en-US" sz="2000" dirty="0"/>
          </a:p>
        </p:txBody>
      </p:sp>
      <p:sp>
        <p:nvSpPr>
          <p:cNvPr id="7" name="Text 5"/>
          <p:cNvSpPr txBox="1"/>
          <p:nvPr/>
        </p:nvSpPr>
        <p:spPr>
          <a:xfrm>
            <a:off x="960120" y="3246120"/>
            <a:ext cx="2875178" cy="146304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The people who decide, minute by minute, where every haul truck goes.</a:t>
            </a:r>
            <a:endParaRPr lang="en-US" sz="1500" dirty="0"/>
          </a:p>
        </p:txBody>
      </p:sp>
      <p:sp>
        <p:nvSpPr>
          <p:cNvPr id="8" name="Shape 6"/>
          <p:cNvSpPr/>
          <p:nvPr/>
        </p:nvSpPr>
        <p:spPr>
          <a:xfrm>
            <a:off x="4383938" y="1828800"/>
            <a:ext cx="3423818" cy="3017520"/>
          </a:xfrm>
          <a:prstGeom prst="roundRect">
            <a:avLst>
              <a:gd name="adj" fmla="val 2424"/>
            </a:avLst>
          </a:prstGeom>
          <a:solidFill>
            <a:srgbClr val="FBF9F4"/>
          </a:solidFill>
          <a:ln w="9525">
            <a:solidFill>
              <a:srgbClr val="D9D2C3"/>
            </a:solidFill>
            <a:prstDash val="solid"/>
          </a:ln>
        </p:spPr>
      </p:sp>
      <p:sp>
        <p:nvSpPr>
          <p:cNvPr id="9" name="Text 7"/>
          <p:cNvSpPr txBox="1"/>
          <p:nvPr/>
        </p:nvSpPr>
        <p:spPr>
          <a:xfrm>
            <a:off x="4658258" y="2103120"/>
            <a:ext cx="2875178"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DECISION</a:t>
            </a:r>
            <a:endParaRPr lang="en-US" sz="1200" dirty="0"/>
          </a:p>
        </p:txBody>
      </p:sp>
      <p:sp>
        <p:nvSpPr>
          <p:cNvPr id="10" name="Text 8"/>
          <p:cNvSpPr txBox="1"/>
          <p:nvPr/>
        </p:nvSpPr>
        <p:spPr>
          <a:xfrm>
            <a:off x="4658258" y="2423160"/>
            <a:ext cx="2875178" cy="77724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Response to disruptions</a:t>
            </a:r>
            <a:endParaRPr lang="en-US" sz="2000" dirty="0"/>
          </a:p>
        </p:txBody>
      </p:sp>
      <p:sp>
        <p:nvSpPr>
          <p:cNvPr id="11" name="Text 9"/>
          <p:cNvSpPr txBox="1"/>
          <p:nvPr/>
        </p:nvSpPr>
        <p:spPr>
          <a:xfrm>
            <a:off x="4658258" y="3246120"/>
            <a:ext cx="2875178" cy="146304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A truck breaks down, the haul road is restricted, or crusher capacity falls: compare throughput, queues, cycle time and utilization before choosing.</a:t>
            </a:r>
            <a:endParaRPr lang="en-US" sz="1500" dirty="0"/>
          </a:p>
        </p:txBody>
      </p:sp>
      <p:sp>
        <p:nvSpPr>
          <p:cNvPr id="12" name="Shape 10"/>
          <p:cNvSpPr/>
          <p:nvPr/>
        </p:nvSpPr>
        <p:spPr>
          <a:xfrm>
            <a:off x="8082077" y="1828800"/>
            <a:ext cx="3423818" cy="3017520"/>
          </a:xfrm>
          <a:prstGeom prst="roundRect">
            <a:avLst>
              <a:gd name="adj" fmla="val 2424"/>
            </a:avLst>
          </a:prstGeom>
          <a:solidFill>
            <a:srgbClr val="FBF9F4"/>
          </a:solidFill>
          <a:ln w="9525">
            <a:solidFill>
              <a:srgbClr val="D9D2C3"/>
            </a:solidFill>
            <a:prstDash val="solid"/>
          </a:ln>
        </p:spPr>
      </p:sp>
      <p:sp>
        <p:nvSpPr>
          <p:cNvPr id="13" name="Text 11"/>
          <p:cNvSpPr txBox="1"/>
          <p:nvPr/>
        </p:nvSpPr>
        <p:spPr>
          <a:xfrm>
            <a:off x="8356397" y="2103120"/>
            <a:ext cx="2875178"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WHY HAULAGE</a:t>
            </a:r>
            <a:endParaRPr lang="en-US" sz="1200" dirty="0"/>
          </a:p>
        </p:txBody>
      </p:sp>
      <p:sp>
        <p:nvSpPr>
          <p:cNvPr id="14" name="Text 12"/>
          <p:cNvSpPr txBox="1"/>
          <p:nvPr/>
        </p:nvSpPr>
        <p:spPr>
          <a:xfrm>
            <a:off x="8356397" y="2423160"/>
            <a:ext cx="2875178" cy="77724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Haulage links every facility</a:t>
            </a:r>
            <a:endParaRPr lang="en-US" sz="2000" dirty="0"/>
          </a:p>
        </p:txBody>
      </p:sp>
      <p:sp>
        <p:nvSpPr>
          <p:cNvPr id="15" name="Text 13"/>
          <p:cNvSpPr txBox="1"/>
          <p:nvPr/>
        </p:nvSpPr>
        <p:spPr>
          <a:xfrm>
            <a:off x="8356397" y="3246120"/>
            <a:ext cx="2875178" cy="146304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Face, road and crusher share one flow, so a problem and its consequence are both visible in a live 3D view.</a:t>
            </a:r>
            <a:endParaRPr lang="en-US" sz="1500" dirty="0"/>
          </a:p>
        </p:txBody>
      </p:sp>
      <p:sp>
        <p:nvSpPr>
          <p:cNvPr id="16" name="Text 14"/>
          <p:cNvSpPr txBox="1"/>
          <p:nvPr/>
        </p:nvSpPr>
        <p:spPr>
          <a:xfrm>
            <a:off x="685800" y="5166360"/>
            <a:ext cx="10820095" cy="68580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The mine is a </a:t>
            </a:r>
            <a:pPr indent="0" marL="0">
              <a:lnSpc>
                <a:spcPct val="112000"/>
              </a:lnSpc>
              <a:buNone/>
            </a:pPr>
            <a:r>
              <a:rPr lang="en-US" sz="1400" b="1" dirty="0">
                <a:solidFill>
                  <a:srgbClr val="14201C"/>
                </a:solidFill>
                <a:latin typeface="Calibri" pitchFamily="34" charset="0"/>
                <a:ea typeface="Calibri" pitchFamily="34" charset="-122"/>
                <a:cs typeface="Calibri" pitchFamily="34" charset="-120"/>
              </a:rPr>
              <a:t>fictional, reduced layout</a:t>
            </a:r>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 calibrated from the anonymized North Pit configuration of the MIT-licensed OpenMines project. Synthetic live telemetry is kept separate from sourced parameters.</a:t>
            </a:r>
            <a:endParaRPr lang="en-US" sz="14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INTRODUCTION</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COMPETITION TASK AND PROJECT RESPONSE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4114800"/>
                <a:gridCol w="6705295"/>
              </a:tblGrid>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Requirement of “Digital Mine on OpenEgiz”</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How the project meets it</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Digital twin of a mine facility on OpenEgiz</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Open-pit loading, haulage and crusher chain as 11 Eclipse Ditto twins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Simulate equipment operations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Excavator, six 77 t trucks, dump bay and crusher with FIFO queues and cycle timing</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Model transportation processes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3.2 km two-lane haul road, speed limits and direction-aware breakdowns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Analyze production data</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Live KPIs, matched fixed-versus-smart evidence, recovery history and fleet curves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Predict facility performance</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Analytical capacity and bottleneck for every condition, within 0.3 % of the simulation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“What-if” scenarios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Breakdown, road restriction, crusher slowdown and Smart Dispatch, each with a clean reset</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Submission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GitHub repository, English, one Docker Compose command, no paid service</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bl>
          </a:graphicData>
        </a:graphic>
      </p:graphicFrame>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INTRODUCTION</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PRODUCTION CHAIN: LOADING FACE TO PRIMARY CRUSHER</a:t>
            </a:r>
            <a:endParaRPr lang="en-US" sz="3000" dirty="0"/>
          </a:p>
        </p:txBody>
      </p:sp>
      <p:sp>
        <p:nvSpPr>
          <p:cNvPr id="4" name="Shape 2"/>
          <p:cNvSpPr/>
          <p:nvPr/>
        </p:nvSpPr>
        <p:spPr>
          <a:xfrm>
            <a:off x="685800" y="2011680"/>
            <a:ext cx="2327834" cy="2377440"/>
          </a:xfrm>
          <a:prstGeom prst="roundRect">
            <a:avLst>
              <a:gd name="adj" fmla="val 3142"/>
            </a:avLst>
          </a:prstGeom>
          <a:solidFill>
            <a:srgbClr val="FBF9F4"/>
          </a:solidFill>
          <a:ln w="9525">
            <a:solidFill>
              <a:srgbClr val="D9D2C3"/>
            </a:solidFill>
            <a:prstDash val="solid"/>
          </a:ln>
        </p:spPr>
      </p:sp>
      <p:sp>
        <p:nvSpPr>
          <p:cNvPr id="5" name="Text 3"/>
          <p:cNvSpPr txBox="1"/>
          <p:nvPr/>
        </p:nvSpPr>
        <p:spPr>
          <a:xfrm>
            <a:off x="914400" y="2240280"/>
            <a:ext cx="1870634"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LOADING FACE</a:t>
            </a:r>
            <a:endParaRPr lang="en-US" sz="1200" dirty="0"/>
          </a:p>
        </p:txBody>
      </p:sp>
      <p:sp>
        <p:nvSpPr>
          <p:cNvPr id="6" name="Text 4"/>
          <p:cNvSpPr txBox="1"/>
          <p:nvPr/>
        </p:nvSpPr>
        <p:spPr>
          <a:xfrm>
            <a:off x="914400" y="2560320"/>
            <a:ext cx="1870634" cy="640080"/>
          </a:xfrm>
          <a:prstGeom prst="rect">
            <a:avLst/>
          </a:prstGeom>
          <a:noFill/>
          <a:ln/>
        </p:spPr>
        <p:txBody>
          <a:bodyPr wrap="square" lIns="0" tIns="0" rIns="0" bIns="0" rtlCol="0" anchor="t"/>
          <a:lstStyle/>
          <a:p>
            <a:pPr indent="0" marL="0">
              <a:lnSpc>
                <a:spcPct val="112000"/>
              </a:lnSpc>
              <a:buNone/>
            </a:pPr>
            <a:r>
              <a:rPr lang="en-US" sz="3400" b="1" dirty="0">
                <a:solidFill>
                  <a:srgbClr val="14201C"/>
                </a:solidFill>
                <a:latin typeface="Calibri" pitchFamily="34" charset="0"/>
                <a:ea typeface="Calibri" pitchFamily="34" charset="-122"/>
                <a:cs typeface="Calibri" pitchFamily="34" charset="-120"/>
              </a:rPr>
              <a:t>770 t/h</a:t>
            </a:r>
            <a:endParaRPr lang="en-US" sz="3400" dirty="0"/>
          </a:p>
        </p:txBody>
      </p:sp>
      <p:sp>
        <p:nvSpPr>
          <p:cNvPr id="7" name="Text 5"/>
          <p:cNvSpPr txBox="1"/>
          <p:nvPr/>
        </p:nvSpPr>
        <p:spPr>
          <a:xfrm>
            <a:off x="914400" y="3246120"/>
            <a:ext cx="1870634" cy="10515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One excavator; four 20.32 t passes load a 77 t truck in 6 min</a:t>
            </a:r>
            <a:endParaRPr lang="en-US" sz="1400" dirty="0"/>
          </a:p>
        </p:txBody>
      </p:sp>
      <p:sp>
        <p:nvSpPr>
          <p:cNvPr id="8" name="Shape 6"/>
          <p:cNvSpPr/>
          <p:nvPr/>
        </p:nvSpPr>
        <p:spPr>
          <a:xfrm>
            <a:off x="3109646" y="3090672"/>
            <a:ext cx="310896" cy="219456"/>
          </a:xfrm>
          <a:prstGeom prst="rightArrow">
            <a:avLst/>
          </a:prstGeom>
          <a:solidFill>
            <a:srgbClr val="0F7D72"/>
          </a:solidFill>
          <a:ln w="12700">
            <a:solidFill>
              <a:srgbClr val="0F7D72"/>
            </a:solidFill>
            <a:prstDash val="solid"/>
          </a:ln>
        </p:spPr>
      </p:sp>
      <p:sp>
        <p:nvSpPr>
          <p:cNvPr id="9" name="Shape 7"/>
          <p:cNvSpPr/>
          <p:nvPr/>
        </p:nvSpPr>
        <p:spPr>
          <a:xfrm>
            <a:off x="3516554" y="2011680"/>
            <a:ext cx="2327834" cy="2377440"/>
          </a:xfrm>
          <a:prstGeom prst="roundRect">
            <a:avLst>
              <a:gd name="adj" fmla="val 3142"/>
            </a:avLst>
          </a:prstGeom>
          <a:solidFill>
            <a:srgbClr val="FBF9F4"/>
          </a:solidFill>
          <a:ln w="9525">
            <a:solidFill>
              <a:srgbClr val="D9D2C3"/>
            </a:solidFill>
            <a:prstDash val="solid"/>
          </a:ln>
        </p:spPr>
      </p:sp>
      <p:sp>
        <p:nvSpPr>
          <p:cNvPr id="10" name="Text 8"/>
          <p:cNvSpPr txBox="1"/>
          <p:nvPr/>
        </p:nvSpPr>
        <p:spPr>
          <a:xfrm>
            <a:off x="3745154" y="2240280"/>
            <a:ext cx="1870634"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HAUL ROAD</a:t>
            </a:r>
            <a:endParaRPr lang="en-US" sz="1200" dirty="0"/>
          </a:p>
        </p:txBody>
      </p:sp>
      <p:sp>
        <p:nvSpPr>
          <p:cNvPr id="11" name="Text 9"/>
          <p:cNvSpPr txBox="1"/>
          <p:nvPr/>
        </p:nvSpPr>
        <p:spPr>
          <a:xfrm>
            <a:off x="3745154" y="2560320"/>
            <a:ext cx="1870634" cy="640080"/>
          </a:xfrm>
          <a:prstGeom prst="rect">
            <a:avLst/>
          </a:prstGeom>
          <a:noFill/>
          <a:ln/>
        </p:spPr>
        <p:txBody>
          <a:bodyPr wrap="square" lIns="0" tIns="0" rIns="0" bIns="0" rtlCol="0" anchor="t"/>
          <a:lstStyle/>
          <a:p>
            <a:pPr indent="0" marL="0">
              <a:lnSpc>
                <a:spcPct val="112000"/>
              </a:lnSpc>
              <a:buNone/>
            </a:pPr>
            <a:r>
              <a:rPr lang="en-US" sz="3400" b="1" dirty="0">
                <a:solidFill>
                  <a:srgbClr val="14201C"/>
                </a:solidFill>
                <a:latin typeface="Calibri" pitchFamily="34" charset="0"/>
                <a:ea typeface="Calibri" pitchFamily="34" charset="-122"/>
                <a:cs typeface="Calibri" pitchFamily="34" charset="-120"/>
              </a:rPr>
              <a:t>3.2 km</a:t>
            </a:r>
            <a:endParaRPr lang="en-US" sz="3400" dirty="0"/>
          </a:p>
        </p:txBody>
      </p:sp>
      <p:sp>
        <p:nvSpPr>
          <p:cNvPr id="12" name="Text 10"/>
          <p:cNvSpPr txBox="1"/>
          <p:nvPr/>
        </p:nvSpPr>
        <p:spPr>
          <a:xfrm>
            <a:off x="3745154" y="3246120"/>
            <a:ext cx="1870634" cy="10515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Two separated lanes, 25 km/h, six 77 t haul trucks</a:t>
            </a:r>
            <a:endParaRPr lang="en-US" sz="1400" dirty="0"/>
          </a:p>
        </p:txBody>
      </p:sp>
      <p:sp>
        <p:nvSpPr>
          <p:cNvPr id="13" name="Shape 11"/>
          <p:cNvSpPr/>
          <p:nvPr/>
        </p:nvSpPr>
        <p:spPr>
          <a:xfrm>
            <a:off x="5940400" y="3090672"/>
            <a:ext cx="310896" cy="219456"/>
          </a:xfrm>
          <a:prstGeom prst="rightArrow">
            <a:avLst/>
          </a:prstGeom>
          <a:solidFill>
            <a:srgbClr val="0F7D72"/>
          </a:solidFill>
          <a:ln w="12700">
            <a:solidFill>
              <a:srgbClr val="0F7D72"/>
            </a:solidFill>
            <a:prstDash val="solid"/>
          </a:ln>
        </p:spPr>
      </p:sp>
      <p:sp>
        <p:nvSpPr>
          <p:cNvPr id="14" name="Shape 12"/>
          <p:cNvSpPr/>
          <p:nvPr/>
        </p:nvSpPr>
        <p:spPr>
          <a:xfrm>
            <a:off x="6347308" y="2011680"/>
            <a:ext cx="2327834" cy="2377440"/>
          </a:xfrm>
          <a:prstGeom prst="roundRect">
            <a:avLst>
              <a:gd name="adj" fmla="val 3142"/>
            </a:avLst>
          </a:prstGeom>
          <a:solidFill>
            <a:srgbClr val="FBF9F4"/>
          </a:solidFill>
          <a:ln w="9525">
            <a:solidFill>
              <a:srgbClr val="D9D2C3"/>
            </a:solidFill>
            <a:prstDash val="solid"/>
          </a:ln>
        </p:spPr>
      </p:sp>
      <p:sp>
        <p:nvSpPr>
          <p:cNvPr id="15" name="Text 13"/>
          <p:cNvSpPr txBox="1"/>
          <p:nvPr/>
        </p:nvSpPr>
        <p:spPr>
          <a:xfrm>
            <a:off x="6575908" y="2240280"/>
            <a:ext cx="1870634"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ROM BIN</a:t>
            </a:r>
            <a:endParaRPr lang="en-US" sz="1200" dirty="0"/>
          </a:p>
        </p:txBody>
      </p:sp>
      <p:sp>
        <p:nvSpPr>
          <p:cNvPr id="16" name="Text 14"/>
          <p:cNvSpPr txBox="1"/>
          <p:nvPr/>
        </p:nvSpPr>
        <p:spPr>
          <a:xfrm>
            <a:off x="6575908" y="2560320"/>
            <a:ext cx="1870634" cy="640080"/>
          </a:xfrm>
          <a:prstGeom prst="rect">
            <a:avLst/>
          </a:prstGeom>
          <a:noFill/>
          <a:ln/>
        </p:spPr>
        <p:txBody>
          <a:bodyPr wrap="square" lIns="0" tIns="0" rIns="0" bIns="0" rtlCol="0" anchor="t"/>
          <a:lstStyle/>
          <a:p>
            <a:pPr indent="0" marL="0">
              <a:lnSpc>
                <a:spcPct val="112000"/>
              </a:lnSpc>
              <a:buNone/>
            </a:pPr>
            <a:r>
              <a:rPr lang="en-US" sz="3400" b="1" dirty="0">
                <a:solidFill>
                  <a:srgbClr val="14201C"/>
                </a:solidFill>
                <a:latin typeface="Calibri" pitchFamily="34" charset="0"/>
                <a:ea typeface="Calibri" pitchFamily="34" charset="-122"/>
                <a:cs typeface="Calibri" pitchFamily="34" charset="-120"/>
              </a:rPr>
              <a:t>600 t</a:t>
            </a:r>
            <a:endParaRPr lang="en-US" sz="3400" dirty="0"/>
          </a:p>
        </p:txBody>
      </p:sp>
      <p:sp>
        <p:nvSpPr>
          <p:cNvPr id="17" name="Text 15"/>
          <p:cNvSpPr txBox="1"/>
          <p:nvPr/>
        </p:nvSpPr>
        <p:spPr>
          <a:xfrm>
            <a:off x="6575908" y="3246120"/>
            <a:ext cx="1870634" cy="10515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One dump bay; a truck tips only when a full load fits</a:t>
            </a:r>
            <a:endParaRPr lang="en-US" sz="1400" dirty="0"/>
          </a:p>
        </p:txBody>
      </p:sp>
      <p:sp>
        <p:nvSpPr>
          <p:cNvPr id="18" name="Shape 16"/>
          <p:cNvSpPr/>
          <p:nvPr/>
        </p:nvSpPr>
        <p:spPr>
          <a:xfrm>
            <a:off x="8771153" y="3090672"/>
            <a:ext cx="310896" cy="219456"/>
          </a:xfrm>
          <a:prstGeom prst="rightArrow">
            <a:avLst/>
          </a:prstGeom>
          <a:solidFill>
            <a:srgbClr val="0F7D72"/>
          </a:solidFill>
          <a:ln w="12700">
            <a:solidFill>
              <a:srgbClr val="0F7D72"/>
            </a:solidFill>
            <a:prstDash val="solid"/>
          </a:ln>
        </p:spPr>
      </p:sp>
      <p:sp>
        <p:nvSpPr>
          <p:cNvPr id="19" name="Shape 17"/>
          <p:cNvSpPr/>
          <p:nvPr/>
        </p:nvSpPr>
        <p:spPr>
          <a:xfrm>
            <a:off x="9178061" y="2011680"/>
            <a:ext cx="2327834" cy="2377440"/>
          </a:xfrm>
          <a:prstGeom prst="roundRect">
            <a:avLst>
              <a:gd name="adj" fmla="val 3142"/>
            </a:avLst>
          </a:prstGeom>
          <a:solidFill>
            <a:srgbClr val="FBF9F4"/>
          </a:solidFill>
          <a:ln w="9525">
            <a:solidFill>
              <a:srgbClr val="D9D2C3"/>
            </a:solidFill>
            <a:prstDash val="solid"/>
          </a:ln>
        </p:spPr>
      </p:sp>
      <p:sp>
        <p:nvSpPr>
          <p:cNvPr id="20" name="Text 18"/>
          <p:cNvSpPr txBox="1"/>
          <p:nvPr/>
        </p:nvSpPr>
        <p:spPr>
          <a:xfrm>
            <a:off x="9406661" y="2240280"/>
            <a:ext cx="1870634" cy="274320"/>
          </a:xfrm>
          <a:prstGeom prst="rect">
            <a:avLst/>
          </a:prstGeom>
          <a:noFill/>
          <a:ln/>
        </p:spPr>
        <p:txBody>
          <a:bodyPr wrap="square" lIns="0" tIns="0" rIns="0" bIns="0" rtlCol="0" anchor="t"/>
          <a:lstStyle/>
          <a:p>
            <a:pPr indent="0" marL="0">
              <a:lnSpc>
                <a:spcPct val="112000"/>
              </a:lnSpc>
              <a:buNone/>
            </a:pPr>
            <a:r>
              <a:rPr lang="en-US" sz="1200" b="1" spc="100" kern="0" dirty="0">
                <a:solidFill>
                  <a:srgbClr val="5E6D68"/>
                </a:solidFill>
                <a:latin typeface="Calibri" pitchFamily="34" charset="0"/>
                <a:ea typeface="Calibri" pitchFamily="34" charset="-122"/>
                <a:cs typeface="Calibri" pitchFamily="34" charset="-120"/>
              </a:rPr>
              <a:t>CRUSHER</a:t>
            </a:r>
            <a:endParaRPr lang="en-US" sz="1200" dirty="0"/>
          </a:p>
        </p:txBody>
      </p:sp>
      <p:sp>
        <p:nvSpPr>
          <p:cNvPr id="21" name="Text 19"/>
          <p:cNvSpPr txBox="1"/>
          <p:nvPr/>
        </p:nvSpPr>
        <p:spPr>
          <a:xfrm>
            <a:off x="9406661" y="2560320"/>
            <a:ext cx="1870634" cy="640080"/>
          </a:xfrm>
          <a:prstGeom prst="rect">
            <a:avLst/>
          </a:prstGeom>
          <a:noFill/>
          <a:ln/>
        </p:spPr>
        <p:txBody>
          <a:bodyPr wrap="square" lIns="0" tIns="0" rIns="0" bIns="0" rtlCol="0" anchor="t"/>
          <a:lstStyle/>
          <a:p>
            <a:pPr indent="0" marL="0">
              <a:lnSpc>
                <a:spcPct val="112000"/>
              </a:lnSpc>
              <a:buNone/>
            </a:pPr>
            <a:r>
              <a:rPr lang="en-US" sz="3400" b="1" dirty="0">
                <a:solidFill>
                  <a:srgbClr val="14201C"/>
                </a:solidFill>
                <a:latin typeface="Calibri" pitchFamily="34" charset="0"/>
                <a:ea typeface="Calibri" pitchFamily="34" charset="-122"/>
                <a:cs typeface="Calibri" pitchFamily="34" charset="-120"/>
              </a:rPr>
              <a:t>900 t/h</a:t>
            </a:r>
            <a:endParaRPr lang="en-US" sz="3400" dirty="0"/>
          </a:p>
        </p:txBody>
      </p:sp>
      <p:sp>
        <p:nvSpPr>
          <p:cNvPr id="22" name="Text 20"/>
          <p:cNvSpPr txBox="1"/>
          <p:nvPr/>
        </p:nvSpPr>
        <p:spPr>
          <a:xfrm>
            <a:off x="9406661" y="3246120"/>
            <a:ext cx="1870634" cy="10515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Primary crusher, planning capacity</a:t>
            </a:r>
            <a:endParaRPr lang="en-US" sz="1400" dirty="0"/>
          </a:p>
        </p:txBody>
      </p:sp>
      <p:sp>
        <p:nvSpPr>
          <p:cNvPr id="23" name="Text 21"/>
          <p:cNvSpPr txBox="1"/>
          <p:nvPr/>
        </p:nvSpPr>
        <p:spPr>
          <a:xfrm>
            <a:off x="685800" y="4892040"/>
            <a:ext cx="10820095" cy="822960"/>
          </a:xfrm>
          <a:prstGeom prst="rect">
            <a:avLst/>
          </a:prstGeom>
          <a:noFill/>
          <a:ln/>
        </p:spPr>
        <p:txBody>
          <a:bodyPr wrap="square" lIns="0" tIns="0" rIns="0" bIns="0" rtlCol="0" anchor="t"/>
          <a:lstStyle/>
          <a:p>
            <a:pPr indent="0" marL="0">
              <a:lnSpc>
                <a:spcPct val="112000"/>
              </a:lnSpc>
              <a:spcAft>
                <a:spcPts val="600"/>
              </a:spcAft>
              <a:buNone/>
            </a:pPr>
            <a:r>
              <a:rPr lang="en-US" sz="1500" b="1" dirty="0">
                <a:solidFill>
                  <a:srgbClr val="0F7D72"/>
                </a:solidFill>
                <a:latin typeface="Calibri" pitchFamily="34" charset="0"/>
                <a:ea typeface="Calibri" pitchFamily="34" charset="-122"/>
                <a:cs typeface="Calibri" pitchFamily="34" charset="-120"/>
              </a:rPr>
              <a:t>Sourced</a:t>
            </a:r>
            <a:pPr indent="0" marL="0">
              <a:lnSpc>
                <a:spcPct val="112000"/>
              </a:lnSpc>
              <a:spcAft>
                <a:spcPts val="600"/>
              </a:spcAft>
              <a:buNone/>
            </a:pPr>
            <a:r>
              <a:rPr lang="en-US" sz="1500" dirty="0">
                <a:solidFill>
                  <a:srgbClr val="3F4E49"/>
                </a:solidFill>
                <a:latin typeface="Calibri" pitchFamily="34" charset="0"/>
                <a:ea typeface="Calibri" pitchFamily="34" charset="-122"/>
                <a:cs typeface="Calibri" pitchFamily="34" charset="-120"/>
              </a:rPr>
              <a:t>: 77 t payload, 20.32 t shovel pass (OpenMines)        </a:t>
            </a:r>
            <a:pPr indent="0" marL="0">
              <a:lnSpc>
                <a:spcPct val="112000"/>
              </a:lnSpc>
              <a:spcAft>
                <a:spcPts val="600"/>
              </a:spcAft>
              <a:buNone/>
            </a:pPr>
            <a:r>
              <a:rPr lang="en-US" sz="1500" b="1" dirty="0">
                <a:solidFill>
                  <a:srgbClr val="0F7D72"/>
                </a:solidFill>
                <a:latin typeface="Calibri" pitchFamily="34" charset="0"/>
                <a:ea typeface="Calibri" pitchFamily="34" charset="-122"/>
                <a:cs typeface="Calibri" pitchFamily="34" charset="-120"/>
              </a:rPr>
              <a:t>Derived</a:t>
            </a:r>
            <a:pPr indent="0" marL="0">
              <a:lnSpc>
                <a:spcPct val="112000"/>
              </a:lnSpc>
              <a:spcAft>
                <a:spcPts val="600"/>
              </a:spcAft>
              <a:buNone/>
            </a:pPr>
            <a:r>
              <a:rPr lang="en-US" sz="1500" dirty="0">
                <a:solidFill>
                  <a:srgbClr val="3F4E49"/>
                </a:solidFill>
                <a:latin typeface="Calibri" pitchFamily="34" charset="0"/>
                <a:ea typeface="Calibri" pitchFamily="34" charset="-122"/>
                <a:cs typeface="Calibri" pitchFamily="34" charset="-120"/>
              </a:rPr>
              <a:t>: 6 min loading</a:t>
            </a:r>
            <a:endParaRPr lang="en-US" sz="1500" dirty="0"/>
          </a:p>
          <a:p>
            <a:pPr indent="0" marL="0">
              <a:lnSpc>
                <a:spcPct val="112000"/>
              </a:lnSpc>
              <a:spcAft>
                <a:spcPts val="600"/>
              </a:spcAft>
              <a:buNone/>
            </a:pPr>
            <a:r>
              <a:rPr lang="en-US" sz="1500" b="1" dirty="0">
                <a:solidFill>
                  <a:srgbClr val="9A5B12"/>
                </a:solidFill>
                <a:latin typeface="Calibri" pitchFamily="34" charset="0"/>
                <a:ea typeface="Calibri" pitchFamily="34" charset="-122"/>
                <a:cs typeface="Calibri" pitchFamily="34" charset="-120"/>
              </a:rPr>
              <a:t>Team assumption</a:t>
            </a:r>
            <a:pPr indent="0" marL="0">
              <a:lnSpc>
                <a:spcPct val="112000"/>
              </a:lnSpc>
              <a:spcAft>
                <a:spcPts val="600"/>
              </a:spcAft>
              <a:buNone/>
            </a:pPr>
            <a:r>
              <a:rPr lang="en-US" sz="1500" dirty="0">
                <a:solidFill>
                  <a:srgbClr val="3F4E49"/>
                </a:solidFill>
                <a:latin typeface="Calibri" pitchFamily="34" charset="0"/>
                <a:ea typeface="Calibri" pitchFamily="34" charset="-122"/>
                <a:cs typeface="Calibri" pitchFamily="34" charset="-120"/>
              </a:rPr>
              <a:t>: 3.2 km route, 600 t bin, 900 t/h crusher</a:t>
            </a:r>
            <a:endParaRPr lang="en-US" sz="15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PURPOSE</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RESEARCH AIM AND OBJECTIVES</a:t>
            </a:r>
            <a:endParaRPr lang="en-US" sz="3000" dirty="0"/>
          </a:p>
        </p:txBody>
      </p:sp>
      <p:sp>
        <p:nvSpPr>
          <p:cNvPr id="4" name="Shape 2"/>
          <p:cNvSpPr/>
          <p:nvPr/>
        </p:nvSpPr>
        <p:spPr>
          <a:xfrm>
            <a:off x="685800" y="1828800"/>
            <a:ext cx="73152" cy="914400"/>
          </a:xfrm>
          <a:prstGeom prst="rect">
            <a:avLst/>
          </a:prstGeom>
          <a:solidFill>
            <a:srgbClr val="0F7D72"/>
          </a:solidFill>
          <a:ln w="12700">
            <a:solidFill>
              <a:srgbClr val="0F7D72"/>
            </a:solidFill>
            <a:prstDash val="solid"/>
          </a:ln>
        </p:spPr>
      </p:sp>
      <p:sp>
        <p:nvSpPr>
          <p:cNvPr id="5" name="Text 3"/>
          <p:cNvSpPr txBox="1"/>
          <p:nvPr/>
        </p:nvSpPr>
        <p:spPr>
          <a:xfrm>
            <a:off x="1005840" y="1874520"/>
            <a:ext cx="10271455" cy="914400"/>
          </a:xfrm>
          <a:prstGeom prst="rect">
            <a:avLst/>
          </a:prstGeom>
          <a:noFill/>
          <a:ln/>
        </p:spPr>
        <p:txBody>
          <a:bodyPr wrap="square" lIns="0" tIns="0" rIns="0" bIns="0" rtlCol="0" anchor="t"/>
          <a:lstStyle/>
          <a:p>
            <a:pPr indent="0" marL="0">
              <a:lnSpc>
                <a:spcPct val="112000"/>
              </a:lnSpc>
              <a:buNone/>
            </a:pPr>
            <a:r>
              <a:rPr lang="en-US" sz="2000" dirty="0">
                <a:solidFill>
                  <a:srgbClr val="14201C"/>
                </a:solidFill>
                <a:latin typeface="Calibri" pitchFamily="34" charset="0"/>
                <a:ea typeface="Calibri" pitchFamily="34" charset="-122"/>
                <a:cs typeface="Calibri" pitchFamily="34" charset="-120"/>
              </a:rPr>
              <a:t>Give the mine dispatcher a live digital twin that shows what limits ore flow, and which fleet decision restores it, with evidence that can be checked.</a:t>
            </a:r>
            <a:endParaRPr lang="en-US" sz="2000" dirty="0"/>
          </a:p>
        </p:txBody>
      </p:sp>
      <p:sp>
        <p:nvSpPr>
          <p:cNvPr id="6" name="Text 4"/>
          <p:cNvSpPr txBox="1"/>
          <p:nvPr/>
        </p:nvSpPr>
        <p:spPr>
          <a:xfrm>
            <a:off x="685800" y="3154680"/>
            <a:ext cx="5486400" cy="274320"/>
          </a:xfrm>
          <a:prstGeom prst="rect">
            <a:avLst/>
          </a:prstGeom>
          <a:noFill/>
          <a:ln/>
        </p:spPr>
        <p:txBody>
          <a:bodyPr wrap="square" lIns="0" tIns="0" rIns="0" bIns="0" rtlCol="0" anchor="t"/>
          <a:lstStyle/>
          <a:p>
            <a:pPr indent="0" marL="0">
              <a:lnSpc>
                <a:spcPct val="112000"/>
              </a:lnSpc>
              <a:buNone/>
            </a:pPr>
            <a:r>
              <a:rPr lang="en-US" sz="1300" b="1" spc="100" kern="0" dirty="0">
                <a:solidFill>
                  <a:srgbClr val="5E6D68"/>
                </a:solidFill>
                <a:latin typeface="Calibri" pitchFamily="34" charset="0"/>
                <a:ea typeface="Calibri" pitchFamily="34" charset="-122"/>
                <a:cs typeface="Calibri" pitchFamily="34" charset="-120"/>
              </a:rPr>
              <a:t>RESEARCH OBJECTIVES</a:t>
            </a:r>
            <a:endParaRPr lang="en-US" sz="1300" dirty="0"/>
          </a:p>
        </p:txBody>
      </p:sp>
      <p:sp>
        <p:nvSpPr>
          <p:cNvPr id="7" name="Shape 5"/>
          <p:cNvSpPr/>
          <p:nvPr/>
        </p:nvSpPr>
        <p:spPr>
          <a:xfrm>
            <a:off x="685800" y="3566160"/>
            <a:ext cx="3423818" cy="2194560"/>
          </a:xfrm>
          <a:prstGeom prst="roundRect">
            <a:avLst>
              <a:gd name="adj" fmla="val 3333"/>
            </a:avLst>
          </a:prstGeom>
          <a:solidFill>
            <a:srgbClr val="FBF9F4"/>
          </a:solidFill>
          <a:ln w="9525">
            <a:solidFill>
              <a:srgbClr val="D9D2C3"/>
            </a:solidFill>
            <a:prstDash val="solid"/>
          </a:ln>
        </p:spPr>
      </p:sp>
      <p:sp>
        <p:nvSpPr>
          <p:cNvPr id="8" name="Text 6"/>
          <p:cNvSpPr txBox="1"/>
          <p:nvPr/>
        </p:nvSpPr>
        <p:spPr>
          <a:xfrm>
            <a:off x="960120" y="3794760"/>
            <a:ext cx="914400" cy="457200"/>
          </a:xfrm>
          <a:prstGeom prst="rect">
            <a:avLst/>
          </a:prstGeom>
          <a:noFill/>
          <a:ln/>
        </p:spPr>
        <p:txBody>
          <a:bodyPr wrap="square" lIns="0" tIns="0" rIns="0" bIns="0" rtlCol="0" anchor="t"/>
          <a:lstStyle/>
          <a:p>
            <a:pPr indent="0" marL="0">
              <a:lnSpc>
                <a:spcPct val="112000"/>
              </a:lnSpc>
              <a:buNone/>
            </a:pPr>
            <a:r>
              <a:rPr lang="en-US" sz="2600" b="1" dirty="0">
                <a:solidFill>
                  <a:srgbClr val="0F7D72"/>
                </a:solidFill>
                <a:latin typeface="Calibri" pitchFamily="34" charset="0"/>
                <a:ea typeface="Calibri" pitchFamily="34" charset="-122"/>
                <a:cs typeface="Calibri" pitchFamily="34" charset="-120"/>
              </a:rPr>
              <a:t>01</a:t>
            </a:r>
            <a:endParaRPr lang="en-US" sz="2600" dirty="0"/>
          </a:p>
        </p:txBody>
      </p:sp>
      <p:sp>
        <p:nvSpPr>
          <p:cNvPr id="9" name="Text 7"/>
          <p:cNvSpPr txBox="1"/>
          <p:nvPr/>
        </p:nvSpPr>
        <p:spPr>
          <a:xfrm>
            <a:off x="960120" y="4343400"/>
            <a:ext cx="2875178" cy="128016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Identify the binding constraint, loader, road or crusher, under each operating condition.</a:t>
            </a:r>
            <a:endParaRPr lang="en-US" sz="1500" dirty="0"/>
          </a:p>
        </p:txBody>
      </p:sp>
      <p:sp>
        <p:nvSpPr>
          <p:cNvPr id="10" name="Shape 8"/>
          <p:cNvSpPr/>
          <p:nvPr/>
        </p:nvSpPr>
        <p:spPr>
          <a:xfrm>
            <a:off x="4383938" y="3566160"/>
            <a:ext cx="3423818" cy="2194560"/>
          </a:xfrm>
          <a:prstGeom prst="roundRect">
            <a:avLst>
              <a:gd name="adj" fmla="val 3333"/>
            </a:avLst>
          </a:prstGeom>
          <a:solidFill>
            <a:srgbClr val="FBF9F4"/>
          </a:solidFill>
          <a:ln w="9525">
            <a:solidFill>
              <a:srgbClr val="D9D2C3"/>
            </a:solidFill>
            <a:prstDash val="solid"/>
          </a:ln>
        </p:spPr>
      </p:sp>
      <p:sp>
        <p:nvSpPr>
          <p:cNvPr id="11" name="Text 9"/>
          <p:cNvSpPr txBox="1"/>
          <p:nvPr/>
        </p:nvSpPr>
        <p:spPr>
          <a:xfrm>
            <a:off x="4658258" y="3794760"/>
            <a:ext cx="914400" cy="457200"/>
          </a:xfrm>
          <a:prstGeom prst="rect">
            <a:avLst/>
          </a:prstGeom>
          <a:noFill/>
          <a:ln/>
        </p:spPr>
        <p:txBody>
          <a:bodyPr wrap="square" lIns="0" tIns="0" rIns="0" bIns="0" rtlCol="0" anchor="t"/>
          <a:lstStyle/>
          <a:p>
            <a:pPr indent="0" marL="0">
              <a:lnSpc>
                <a:spcPct val="112000"/>
              </a:lnSpc>
              <a:buNone/>
            </a:pPr>
            <a:r>
              <a:rPr lang="en-US" sz="2600" b="1" dirty="0">
                <a:solidFill>
                  <a:srgbClr val="0F7D72"/>
                </a:solidFill>
                <a:latin typeface="Calibri" pitchFamily="34" charset="0"/>
                <a:ea typeface="Calibri" pitchFamily="34" charset="-122"/>
                <a:cs typeface="Calibri" pitchFamily="34" charset="-120"/>
              </a:rPr>
              <a:t>02</a:t>
            </a:r>
            <a:endParaRPr lang="en-US" sz="2600" dirty="0"/>
          </a:p>
        </p:txBody>
      </p:sp>
      <p:sp>
        <p:nvSpPr>
          <p:cNvPr id="12" name="Text 10"/>
          <p:cNvSpPr txBox="1"/>
          <p:nvPr/>
        </p:nvSpPr>
        <p:spPr>
          <a:xfrm>
            <a:off x="4658258" y="4343400"/>
            <a:ext cx="2875178" cy="128016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Determine the smallest fleet that sustains maximum output in each condition.</a:t>
            </a:r>
            <a:endParaRPr lang="en-US" sz="1500" dirty="0"/>
          </a:p>
        </p:txBody>
      </p:sp>
      <p:sp>
        <p:nvSpPr>
          <p:cNvPr id="13" name="Shape 11"/>
          <p:cNvSpPr/>
          <p:nvPr/>
        </p:nvSpPr>
        <p:spPr>
          <a:xfrm>
            <a:off x="8082077" y="3566160"/>
            <a:ext cx="3423818" cy="2194560"/>
          </a:xfrm>
          <a:prstGeom prst="roundRect">
            <a:avLst>
              <a:gd name="adj" fmla="val 3333"/>
            </a:avLst>
          </a:prstGeom>
          <a:solidFill>
            <a:srgbClr val="FBF9F4"/>
          </a:solidFill>
          <a:ln w="9525">
            <a:solidFill>
              <a:srgbClr val="D9D2C3"/>
            </a:solidFill>
            <a:prstDash val="solid"/>
          </a:ln>
        </p:spPr>
      </p:sp>
      <p:sp>
        <p:nvSpPr>
          <p:cNvPr id="14" name="Text 12"/>
          <p:cNvSpPr txBox="1"/>
          <p:nvPr/>
        </p:nvSpPr>
        <p:spPr>
          <a:xfrm>
            <a:off x="8356397" y="3794760"/>
            <a:ext cx="914400" cy="457200"/>
          </a:xfrm>
          <a:prstGeom prst="rect">
            <a:avLst/>
          </a:prstGeom>
          <a:noFill/>
          <a:ln/>
        </p:spPr>
        <p:txBody>
          <a:bodyPr wrap="square" lIns="0" tIns="0" rIns="0" bIns="0" rtlCol="0" anchor="t"/>
          <a:lstStyle/>
          <a:p>
            <a:pPr indent="0" marL="0">
              <a:lnSpc>
                <a:spcPct val="112000"/>
              </a:lnSpc>
              <a:buNone/>
            </a:pPr>
            <a:r>
              <a:rPr lang="en-US" sz="2600" b="1" dirty="0">
                <a:solidFill>
                  <a:srgbClr val="0F7D72"/>
                </a:solidFill>
                <a:latin typeface="Calibri" pitchFamily="34" charset="0"/>
                <a:ea typeface="Calibri" pitchFamily="34" charset="-122"/>
                <a:cs typeface="Calibri" pitchFamily="34" charset="-120"/>
              </a:rPr>
              <a:t>03</a:t>
            </a:r>
            <a:endParaRPr lang="en-US" sz="2600" dirty="0"/>
          </a:p>
        </p:txBody>
      </p:sp>
      <p:sp>
        <p:nvSpPr>
          <p:cNvPr id="15" name="Text 13"/>
          <p:cNvSpPr txBox="1"/>
          <p:nvPr/>
        </p:nvSpPr>
        <p:spPr>
          <a:xfrm>
            <a:off x="8356397" y="4343400"/>
            <a:ext cx="2875178" cy="128016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Quantify the production loss and the recovery after an equipment breakdown.</a:t>
            </a:r>
            <a:endParaRPr lang="en-US" sz="15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TASKS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RESEARCH TASKS AND IMPLEMENTATION STATUS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548640"/>
                <a:gridCol w="6675120"/>
                <a:gridCol w="3596335"/>
              </a:tblGrid>
              <a:tr h="0">
                <a:tc>
                  <a:txBody>
                    <a:bodyPr/>
                    <a:lstStyle/>
                    <a:p>
                      <a:pPr algn="r" indent="0" marL="0">
                        <a:buNone/>
                      </a:pPr>
                      <a:r>
                        <a:rPr lang="en-US" sz="1700" b="1" dirty="0">
                          <a:solidFill>
                            <a:srgbClr val="14201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b="1" dirty="0">
                          <a:solidFill>
                            <a:srgbClr val="14201C"/>
                          </a:solidFill>
                          <a:latin typeface="Calibri" pitchFamily="34" charset="0"/>
                          <a:ea typeface="Calibri" pitchFamily="34" charset="-122"/>
                          <a:cs typeface="Calibri" pitchFamily="34" charset="-120"/>
                        </a:rPr>
                        <a:t>Task</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b="1" dirty="0">
                          <a:solidFill>
                            <a:srgbClr val="14201C"/>
                          </a:solidFill>
                          <a:latin typeface="Calibri" pitchFamily="34" charset="0"/>
                          <a:ea typeface="Calibri" pitchFamily="34" charset="-122"/>
                          <a:cs typeface="Calibri" pitchFamily="34" charset="-120"/>
                        </a:rPr>
                        <a:t>Done, and where to see it</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Represent the chain as 11 connected Eclipse Ditto twins</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Mine model view</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Simulate it: FIFO queues, cycle times, mass balance</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Python engine, 92 tests</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Stream live state through MQTT and Ditto every 2 s</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LIVE badge, smoke check</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Visualize it as a 3D mine driven by twin state</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Command center</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5</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Run three disruptions with a clean reset</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Scenario controls B, reset A</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Turn analysis into a decision the dispatcher can apply</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Smart Dispatch, Decision</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r" indent="0" marL="0">
                        <a:buNone/>
                      </a:pPr>
                      <a:r>
                        <a:rPr lang="en-US" sz="1700" dirty="0">
                          <a:solidFill>
                            <a:srgbClr val="3F4E49"/>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Prove it with tests, matched evidence and stated limits</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700" dirty="0">
                          <a:solidFill>
                            <a:srgbClr val="3F4E49"/>
                          </a:solidFill>
                          <a:latin typeface="Calibri" pitchFamily="34" charset="0"/>
                          <a:ea typeface="Calibri" pitchFamily="34" charset="-122"/>
                          <a:cs typeface="Calibri" pitchFamily="34" charset="-120"/>
                        </a:rPr>
                        <a:t>Model credibility panel</a:t>
                      </a:r>
                      <a:endParaRPr lang="en-US" sz="17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bl>
          </a:graphicData>
        </a:graphic>
      </p:graphicFrame>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METHOD</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SYSTEM ARCHITECTURE ON OPENEGIZ</a:t>
            </a:r>
            <a:endParaRPr lang="en-US" sz="3000" dirty="0"/>
          </a:p>
        </p:txBody>
      </p:sp>
      <p:sp>
        <p:nvSpPr>
          <p:cNvPr id="4" name="Shape 2"/>
          <p:cNvSpPr/>
          <p:nvPr/>
        </p:nvSpPr>
        <p:spPr>
          <a:xfrm>
            <a:off x="685800" y="1828800"/>
            <a:ext cx="1856781" cy="2148840"/>
          </a:xfrm>
          <a:prstGeom prst="roundRect">
            <a:avLst>
              <a:gd name="adj" fmla="val 3940"/>
            </a:avLst>
          </a:prstGeom>
          <a:solidFill>
            <a:srgbClr val="FBF9F4"/>
          </a:solidFill>
          <a:ln w="9525">
            <a:solidFill>
              <a:srgbClr val="D9D2C3"/>
            </a:solidFill>
            <a:prstDash val="solid"/>
          </a:ln>
        </p:spPr>
      </p:sp>
      <p:sp>
        <p:nvSpPr>
          <p:cNvPr id="5" name="Text 3"/>
          <p:cNvSpPr txBox="1"/>
          <p:nvPr/>
        </p:nvSpPr>
        <p:spPr>
          <a:xfrm>
            <a:off x="868680" y="2029968"/>
            <a:ext cx="1491021" cy="274320"/>
          </a:xfrm>
          <a:prstGeom prst="rect">
            <a:avLst/>
          </a:prstGeom>
          <a:noFill/>
          <a:ln/>
        </p:spPr>
        <p:txBody>
          <a:bodyPr wrap="square" lIns="0" tIns="0" rIns="0" bIns="0" rtlCol="0" anchor="t"/>
          <a:lstStyle/>
          <a:p>
            <a:pPr indent="0" marL="0">
              <a:lnSpc>
                <a:spcPct val="112000"/>
              </a:lnSpc>
              <a:buNone/>
            </a:pPr>
            <a:r>
              <a:rPr lang="en-US" sz="1300" b="1" dirty="0">
                <a:solidFill>
                  <a:srgbClr val="0F7D72"/>
                </a:solidFill>
                <a:latin typeface="Calibri" pitchFamily="34" charset="0"/>
                <a:ea typeface="Calibri" pitchFamily="34" charset="-122"/>
                <a:cs typeface="Calibri" pitchFamily="34" charset="-120"/>
              </a:rPr>
              <a:t>1. Simulator</a:t>
            </a:r>
            <a:endParaRPr lang="en-US" sz="1300" dirty="0"/>
          </a:p>
        </p:txBody>
      </p:sp>
      <p:sp>
        <p:nvSpPr>
          <p:cNvPr id="6" name="Text 4"/>
          <p:cNvSpPr txBox="1"/>
          <p:nvPr/>
        </p:nvSpPr>
        <p:spPr>
          <a:xfrm>
            <a:off x="868680" y="2377440"/>
            <a:ext cx="1491021" cy="15087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Deterministic Python engine: FIFO queues, exclusive loader and dump bay, mass balance</a:t>
            </a:r>
            <a:endParaRPr lang="en-US" sz="1400" dirty="0"/>
          </a:p>
        </p:txBody>
      </p:sp>
      <p:sp>
        <p:nvSpPr>
          <p:cNvPr id="7" name="Shape 5"/>
          <p:cNvSpPr/>
          <p:nvPr/>
        </p:nvSpPr>
        <p:spPr>
          <a:xfrm>
            <a:off x="2579157" y="2788920"/>
            <a:ext cx="310896" cy="219456"/>
          </a:xfrm>
          <a:prstGeom prst="rightArrow">
            <a:avLst/>
          </a:prstGeom>
          <a:solidFill>
            <a:srgbClr val="0F7D72"/>
          </a:solidFill>
          <a:ln w="12700">
            <a:solidFill>
              <a:srgbClr val="0F7D72"/>
            </a:solidFill>
            <a:prstDash val="solid"/>
          </a:ln>
        </p:spPr>
      </p:sp>
      <p:sp>
        <p:nvSpPr>
          <p:cNvPr id="8" name="Shape 6"/>
          <p:cNvSpPr/>
          <p:nvPr/>
        </p:nvSpPr>
        <p:spPr>
          <a:xfrm>
            <a:off x="2926629" y="1828800"/>
            <a:ext cx="1856781" cy="2148840"/>
          </a:xfrm>
          <a:prstGeom prst="roundRect">
            <a:avLst>
              <a:gd name="adj" fmla="val 3940"/>
            </a:avLst>
          </a:prstGeom>
          <a:solidFill>
            <a:srgbClr val="FBF9F4"/>
          </a:solidFill>
          <a:ln w="9525">
            <a:solidFill>
              <a:srgbClr val="D9D2C3"/>
            </a:solidFill>
            <a:prstDash val="solid"/>
          </a:ln>
        </p:spPr>
      </p:sp>
      <p:sp>
        <p:nvSpPr>
          <p:cNvPr id="9" name="Text 7"/>
          <p:cNvSpPr txBox="1"/>
          <p:nvPr/>
        </p:nvSpPr>
        <p:spPr>
          <a:xfrm>
            <a:off x="3109509" y="2029968"/>
            <a:ext cx="1491021" cy="274320"/>
          </a:xfrm>
          <a:prstGeom prst="rect">
            <a:avLst/>
          </a:prstGeom>
          <a:noFill/>
          <a:ln/>
        </p:spPr>
        <p:txBody>
          <a:bodyPr wrap="square" lIns="0" tIns="0" rIns="0" bIns="0" rtlCol="0" anchor="t"/>
          <a:lstStyle/>
          <a:p>
            <a:pPr indent="0" marL="0">
              <a:lnSpc>
                <a:spcPct val="112000"/>
              </a:lnSpc>
              <a:buNone/>
            </a:pPr>
            <a:r>
              <a:rPr lang="en-US" sz="1300" b="1" dirty="0">
                <a:solidFill>
                  <a:srgbClr val="0F7D72"/>
                </a:solidFill>
                <a:latin typeface="Calibri" pitchFamily="34" charset="0"/>
                <a:ea typeface="Calibri" pitchFamily="34" charset="-122"/>
                <a:cs typeface="Calibri" pitchFamily="34" charset="-120"/>
              </a:rPr>
              <a:t>2. MQTT</a:t>
            </a:r>
            <a:endParaRPr lang="en-US" sz="1300" dirty="0"/>
          </a:p>
        </p:txBody>
      </p:sp>
      <p:sp>
        <p:nvSpPr>
          <p:cNvPr id="10" name="Text 8"/>
          <p:cNvSpPr txBox="1"/>
          <p:nvPr/>
        </p:nvSpPr>
        <p:spPr>
          <a:xfrm>
            <a:off x="3109509" y="2377440"/>
            <a:ext cx="1491021" cy="15087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Ditto Protocol updates, a full snapshot every two seconds</a:t>
            </a:r>
            <a:endParaRPr lang="en-US" sz="1400" dirty="0"/>
          </a:p>
        </p:txBody>
      </p:sp>
      <p:sp>
        <p:nvSpPr>
          <p:cNvPr id="11" name="Shape 9"/>
          <p:cNvSpPr/>
          <p:nvPr/>
        </p:nvSpPr>
        <p:spPr>
          <a:xfrm>
            <a:off x="4819985" y="2788920"/>
            <a:ext cx="310896" cy="219456"/>
          </a:xfrm>
          <a:prstGeom prst="rightArrow">
            <a:avLst/>
          </a:prstGeom>
          <a:solidFill>
            <a:srgbClr val="0F7D72"/>
          </a:solidFill>
          <a:ln w="12700">
            <a:solidFill>
              <a:srgbClr val="0F7D72"/>
            </a:solidFill>
            <a:prstDash val="solid"/>
          </a:ln>
        </p:spPr>
      </p:sp>
      <p:sp>
        <p:nvSpPr>
          <p:cNvPr id="12" name="Shape 10"/>
          <p:cNvSpPr/>
          <p:nvPr/>
        </p:nvSpPr>
        <p:spPr>
          <a:xfrm>
            <a:off x="5167457" y="1828800"/>
            <a:ext cx="1856781" cy="2148840"/>
          </a:xfrm>
          <a:prstGeom prst="roundRect">
            <a:avLst>
              <a:gd name="adj" fmla="val 3940"/>
            </a:avLst>
          </a:prstGeom>
          <a:solidFill>
            <a:srgbClr val="FBF9F4"/>
          </a:solidFill>
          <a:ln w="9525">
            <a:solidFill>
              <a:srgbClr val="0F7D72"/>
            </a:solidFill>
            <a:prstDash val="solid"/>
          </a:ln>
        </p:spPr>
      </p:sp>
      <p:sp>
        <p:nvSpPr>
          <p:cNvPr id="13" name="Text 11"/>
          <p:cNvSpPr txBox="1"/>
          <p:nvPr/>
        </p:nvSpPr>
        <p:spPr>
          <a:xfrm>
            <a:off x="5350337" y="2029968"/>
            <a:ext cx="1491021" cy="274320"/>
          </a:xfrm>
          <a:prstGeom prst="rect">
            <a:avLst/>
          </a:prstGeom>
          <a:noFill/>
          <a:ln/>
        </p:spPr>
        <p:txBody>
          <a:bodyPr wrap="square" lIns="0" tIns="0" rIns="0" bIns="0" rtlCol="0" anchor="t"/>
          <a:lstStyle/>
          <a:p>
            <a:pPr indent="0" marL="0">
              <a:lnSpc>
                <a:spcPct val="112000"/>
              </a:lnSpc>
              <a:buNone/>
            </a:pPr>
            <a:r>
              <a:rPr lang="en-US" sz="1300" b="1" dirty="0">
                <a:solidFill>
                  <a:srgbClr val="0F7D72"/>
                </a:solidFill>
                <a:latin typeface="Calibri" pitchFamily="34" charset="0"/>
                <a:ea typeface="Calibri" pitchFamily="34" charset="-122"/>
                <a:cs typeface="Calibri" pitchFamily="34" charset="-120"/>
              </a:rPr>
              <a:t>3. Eclipse Ditto</a:t>
            </a:r>
            <a:endParaRPr lang="en-US" sz="1300" dirty="0"/>
          </a:p>
        </p:txBody>
      </p:sp>
      <p:sp>
        <p:nvSpPr>
          <p:cNvPr id="14" name="Text 12"/>
          <p:cNvSpPr txBox="1"/>
          <p:nvPr/>
        </p:nvSpPr>
        <p:spPr>
          <a:xfrm>
            <a:off x="5350337" y="2377440"/>
            <a:ext cx="1491021" cy="15087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11 digital twins, the single source of state</a:t>
            </a:r>
            <a:endParaRPr lang="en-US" sz="1400" dirty="0"/>
          </a:p>
        </p:txBody>
      </p:sp>
      <p:sp>
        <p:nvSpPr>
          <p:cNvPr id="15" name="Shape 13"/>
          <p:cNvSpPr/>
          <p:nvPr/>
        </p:nvSpPr>
        <p:spPr>
          <a:xfrm>
            <a:off x="7060814" y="2788920"/>
            <a:ext cx="310896" cy="219456"/>
          </a:xfrm>
          <a:prstGeom prst="rightArrow">
            <a:avLst/>
          </a:prstGeom>
          <a:solidFill>
            <a:srgbClr val="0F7D72"/>
          </a:solidFill>
          <a:ln w="12700">
            <a:solidFill>
              <a:srgbClr val="0F7D72"/>
            </a:solidFill>
            <a:prstDash val="solid"/>
          </a:ln>
        </p:spPr>
      </p:sp>
      <p:sp>
        <p:nvSpPr>
          <p:cNvPr id="16" name="Shape 14"/>
          <p:cNvSpPr/>
          <p:nvPr/>
        </p:nvSpPr>
        <p:spPr>
          <a:xfrm>
            <a:off x="7408286" y="1828800"/>
            <a:ext cx="1856781" cy="2148840"/>
          </a:xfrm>
          <a:prstGeom prst="roundRect">
            <a:avLst>
              <a:gd name="adj" fmla="val 3940"/>
            </a:avLst>
          </a:prstGeom>
          <a:solidFill>
            <a:srgbClr val="FBF9F4"/>
          </a:solidFill>
          <a:ln w="9525">
            <a:solidFill>
              <a:srgbClr val="D9D2C3"/>
            </a:solidFill>
            <a:prstDash val="solid"/>
          </a:ln>
        </p:spPr>
      </p:sp>
      <p:sp>
        <p:nvSpPr>
          <p:cNvPr id="17" name="Text 15"/>
          <p:cNvSpPr txBox="1"/>
          <p:nvPr/>
        </p:nvSpPr>
        <p:spPr>
          <a:xfrm>
            <a:off x="7591166" y="2029968"/>
            <a:ext cx="1491021" cy="274320"/>
          </a:xfrm>
          <a:prstGeom prst="rect">
            <a:avLst/>
          </a:prstGeom>
          <a:noFill/>
          <a:ln/>
        </p:spPr>
        <p:txBody>
          <a:bodyPr wrap="square" lIns="0" tIns="0" rIns="0" bIns="0" rtlCol="0" anchor="t"/>
          <a:lstStyle/>
          <a:p>
            <a:pPr indent="0" marL="0">
              <a:lnSpc>
                <a:spcPct val="112000"/>
              </a:lnSpc>
              <a:buNone/>
            </a:pPr>
            <a:r>
              <a:rPr lang="en-US" sz="1300" b="1" dirty="0">
                <a:solidFill>
                  <a:srgbClr val="0F7D72"/>
                </a:solidFill>
                <a:latin typeface="Calibri" pitchFamily="34" charset="0"/>
                <a:ea typeface="Calibri" pitchFamily="34" charset="-122"/>
                <a:cs typeface="Calibri" pitchFamily="34" charset="-120"/>
              </a:rPr>
              <a:t>4. Ademix API</a:t>
            </a:r>
            <a:endParaRPr lang="en-US" sz="1300" dirty="0"/>
          </a:p>
        </p:txBody>
      </p:sp>
      <p:sp>
        <p:nvSpPr>
          <p:cNvPr id="18" name="Text 16"/>
          <p:cNvSpPr txBox="1"/>
          <p:nvPr/>
        </p:nvSpPr>
        <p:spPr>
          <a:xfrm>
            <a:off x="7591166" y="2377440"/>
            <a:ext cx="1491021" cy="15087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One bulk Ditto read per poll; scenario and dispatch controls</a:t>
            </a:r>
            <a:endParaRPr lang="en-US" sz="1400" dirty="0"/>
          </a:p>
        </p:txBody>
      </p:sp>
      <p:sp>
        <p:nvSpPr>
          <p:cNvPr id="19" name="Shape 17"/>
          <p:cNvSpPr/>
          <p:nvPr/>
        </p:nvSpPr>
        <p:spPr>
          <a:xfrm>
            <a:off x="9301643" y="2788920"/>
            <a:ext cx="310896" cy="219456"/>
          </a:xfrm>
          <a:prstGeom prst="rightArrow">
            <a:avLst/>
          </a:prstGeom>
          <a:solidFill>
            <a:srgbClr val="0F7D72"/>
          </a:solidFill>
          <a:ln w="12700">
            <a:solidFill>
              <a:srgbClr val="0F7D72"/>
            </a:solidFill>
            <a:prstDash val="solid"/>
          </a:ln>
        </p:spPr>
      </p:sp>
      <p:sp>
        <p:nvSpPr>
          <p:cNvPr id="20" name="Shape 18"/>
          <p:cNvSpPr/>
          <p:nvPr/>
        </p:nvSpPr>
        <p:spPr>
          <a:xfrm>
            <a:off x="9649115" y="1828800"/>
            <a:ext cx="1856781" cy="2148840"/>
          </a:xfrm>
          <a:prstGeom prst="roundRect">
            <a:avLst>
              <a:gd name="adj" fmla="val 3940"/>
            </a:avLst>
          </a:prstGeom>
          <a:solidFill>
            <a:srgbClr val="FBF9F4"/>
          </a:solidFill>
          <a:ln w="9525">
            <a:solidFill>
              <a:srgbClr val="D9D2C3"/>
            </a:solidFill>
            <a:prstDash val="solid"/>
          </a:ln>
        </p:spPr>
      </p:sp>
      <p:sp>
        <p:nvSpPr>
          <p:cNvPr id="21" name="Text 19"/>
          <p:cNvSpPr txBox="1"/>
          <p:nvPr/>
        </p:nvSpPr>
        <p:spPr>
          <a:xfrm>
            <a:off x="9831995" y="2029968"/>
            <a:ext cx="1491021" cy="274320"/>
          </a:xfrm>
          <a:prstGeom prst="rect">
            <a:avLst/>
          </a:prstGeom>
          <a:noFill/>
          <a:ln/>
        </p:spPr>
        <p:txBody>
          <a:bodyPr wrap="square" lIns="0" tIns="0" rIns="0" bIns="0" rtlCol="0" anchor="t"/>
          <a:lstStyle/>
          <a:p>
            <a:pPr indent="0" marL="0">
              <a:lnSpc>
                <a:spcPct val="112000"/>
              </a:lnSpc>
              <a:buNone/>
            </a:pPr>
            <a:r>
              <a:rPr lang="en-US" sz="1300" b="1" dirty="0">
                <a:solidFill>
                  <a:srgbClr val="0F7D72"/>
                </a:solidFill>
                <a:latin typeface="Calibri" pitchFamily="34" charset="0"/>
                <a:ea typeface="Calibri" pitchFamily="34" charset="-122"/>
                <a:cs typeface="Calibri" pitchFamily="34" charset="-120"/>
              </a:rPr>
              <a:t>5. 3D view</a:t>
            </a:r>
            <a:endParaRPr lang="en-US" sz="1300" dirty="0"/>
          </a:p>
        </p:txBody>
      </p:sp>
      <p:sp>
        <p:nvSpPr>
          <p:cNvPr id="22" name="Text 20"/>
          <p:cNvSpPr txBox="1"/>
          <p:nvPr/>
        </p:nvSpPr>
        <p:spPr>
          <a:xfrm>
            <a:off x="9831995" y="2377440"/>
            <a:ext cx="1491021" cy="150876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React Three Fiber command center labels LIVE, DEMO or REPLAY</a:t>
            </a:r>
            <a:endParaRPr lang="en-US" sz="1400" dirty="0"/>
          </a:p>
        </p:txBody>
      </p:sp>
      <p:sp>
        <p:nvSpPr>
          <p:cNvPr id="23" name="Text 21"/>
          <p:cNvSpPr txBox="1"/>
          <p:nvPr/>
        </p:nvSpPr>
        <p:spPr>
          <a:xfrm>
            <a:off x="685800" y="4389120"/>
            <a:ext cx="2430704" cy="685800"/>
          </a:xfrm>
          <a:prstGeom prst="rect">
            <a:avLst/>
          </a:prstGeom>
          <a:noFill/>
          <a:ln/>
        </p:spPr>
        <p:txBody>
          <a:bodyPr wrap="square" lIns="0" tIns="0" rIns="0" bIns="0" rtlCol="0" anchor="t"/>
          <a:lstStyle/>
          <a:p>
            <a:pPr indent="0" marL="0">
              <a:lnSpc>
                <a:spcPct val="112000"/>
              </a:lnSpc>
              <a:buNone/>
            </a:pPr>
            <a:r>
              <a:rPr lang="en-US" sz="4000" b="1" dirty="0">
                <a:solidFill>
                  <a:srgbClr val="14201C"/>
                </a:solidFill>
                <a:latin typeface="Calibri" pitchFamily="34" charset="0"/>
                <a:ea typeface="Calibri" pitchFamily="34" charset="-122"/>
                <a:cs typeface="Calibri" pitchFamily="34" charset="-120"/>
              </a:rPr>
              <a:t>11</a:t>
            </a:r>
            <a:endParaRPr lang="en-US" sz="4000" dirty="0"/>
          </a:p>
        </p:txBody>
      </p:sp>
      <p:sp>
        <p:nvSpPr>
          <p:cNvPr id="24" name="Text 22"/>
          <p:cNvSpPr txBox="1"/>
          <p:nvPr/>
        </p:nvSpPr>
        <p:spPr>
          <a:xfrm>
            <a:off x="685800" y="5120640"/>
            <a:ext cx="2430704" cy="64008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twins in Ditto</a:t>
            </a:r>
            <a:endParaRPr lang="en-US" sz="1300" dirty="0"/>
          </a:p>
        </p:txBody>
      </p:sp>
      <p:sp>
        <p:nvSpPr>
          <p:cNvPr id="25" name="Text 23"/>
          <p:cNvSpPr txBox="1"/>
          <p:nvPr/>
        </p:nvSpPr>
        <p:spPr>
          <a:xfrm>
            <a:off x="3390824" y="4389120"/>
            <a:ext cx="2430704" cy="685800"/>
          </a:xfrm>
          <a:prstGeom prst="rect">
            <a:avLst/>
          </a:prstGeom>
          <a:noFill/>
          <a:ln/>
        </p:spPr>
        <p:txBody>
          <a:bodyPr wrap="square" lIns="0" tIns="0" rIns="0" bIns="0" rtlCol="0" anchor="t"/>
          <a:lstStyle/>
          <a:p>
            <a:pPr indent="0" marL="0">
              <a:lnSpc>
                <a:spcPct val="112000"/>
              </a:lnSpc>
              <a:buNone/>
            </a:pPr>
            <a:r>
              <a:rPr lang="en-US" sz="4000" b="1" dirty="0">
                <a:solidFill>
                  <a:srgbClr val="14201C"/>
                </a:solidFill>
                <a:latin typeface="Calibri" pitchFamily="34" charset="0"/>
                <a:ea typeface="Calibri" pitchFamily="34" charset="-122"/>
                <a:cs typeface="Calibri" pitchFamily="34" charset="-120"/>
              </a:rPr>
              <a:t>143</a:t>
            </a:r>
            <a:endParaRPr lang="en-US" sz="4000" dirty="0"/>
          </a:p>
        </p:txBody>
      </p:sp>
      <p:sp>
        <p:nvSpPr>
          <p:cNvPr id="26" name="Text 24"/>
          <p:cNvSpPr txBox="1"/>
          <p:nvPr/>
        </p:nvSpPr>
        <p:spPr>
          <a:xfrm>
            <a:off x="3390824" y="5120640"/>
            <a:ext cx="2430704" cy="64008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required fields with units, checked by smoke test</a:t>
            </a:r>
            <a:endParaRPr lang="en-US" sz="1300" dirty="0"/>
          </a:p>
        </p:txBody>
      </p:sp>
      <p:sp>
        <p:nvSpPr>
          <p:cNvPr id="27" name="Text 25"/>
          <p:cNvSpPr txBox="1"/>
          <p:nvPr/>
        </p:nvSpPr>
        <p:spPr>
          <a:xfrm>
            <a:off x="6095848" y="4389120"/>
            <a:ext cx="2430704" cy="685800"/>
          </a:xfrm>
          <a:prstGeom prst="rect">
            <a:avLst/>
          </a:prstGeom>
          <a:noFill/>
          <a:ln/>
        </p:spPr>
        <p:txBody>
          <a:bodyPr wrap="square" lIns="0" tIns="0" rIns="0" bIns="0" rtlCol="0" anchor="t"/>
          <a:lstStyle/>
          <a:p>
            <a:pPr indent="0" marL="0">
              <a:lnSpc>
                <a:spcPct val="112000"/>
              </a:lnSpc>
              <a:buNone/>
            </a:pPr>
            <a:r>
              <a:rPr lang="en-US" sz="4000" b="1" dirty="0">
                <a:solidFill>
                  <a:srgbClr val="14201C"/>
                </a:solidFill>
                <a:latin typeface="Calibri" pitchFamily="34" charset="0"/>
                <a:ea typeface="Calibri" pitchFamily="34" charset="-122"/>
                <a:cs typeface="Calibri" pitchFamily="34" charset="-120"/>
              </a:rPr>
              <a:t>2 s</a:t>
            </a:r>
            <a:endParaRPr lang="en-US" sz="4000" dirty="0"/>
          </a:p>
        </p:txBody>
      </p:sp>
      <p:sp>
        <p:nvSpPr>
          <p:cNvPr id="28" name="Text 26"/>
          <p:cNvSpPr txBox="1"/>
          <p:nvPr/>
        </p:nvSpPr>
        <p:spPr>
          <a:xfrm>
            <a:off x="6095848" y="5120640"/>
            <a:ext cx="2430704" cy="64008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between twin updates on screen</a:t>
            </a:r>
            <a:endParaRPr lang="en-US" sz="1300" dirty="0"/>
          </a:p>
        </p:txBody>
      </p:sp>
      <p:sp>
        <p:nvSpPr>
          <p:cNvPr id="29" name="Text 27"/>
          <p:cNvSpPr txBox="1"/>
          <p:nvPr/>
        </p:nvSpPr>
        <p:spPr>
          <a:xfrm>
            <a:off x="8800871" y="4389120"/>
            <a:ext cx="2430704" cy="685800"/>
          </a:xfrm>
          <a:prstGeom prst="rect">
            <a:avLst/>
          </a:prstGeom>
          <a:noFill/>
          <a:ln/>
        </p:spPr>
        <p:txBody>
          <a:bodyPr wrap="square" lIns="0" tIns="0" rIns="0" bIns="0" rtlCol="0" anchor="t"/>
          <a:lstStyle/>
          <a:p>
            <a:pPr indent="0" marL="0">
              <a:lnSpc>
                <a:spcPct val="112000"/>
              </a:lnSpc>
              <a:buNone/>
            </a:pPr>
            <a:r>
              <a:rPr lang="en-US" sz="4000" b="1" dirty="0">
                <a:solidFill>
                  <a:srgbClr val="14201C"/>
                </a:solidFill>
                <a:latin typeface="Calibri" pitchFamily="34" charset="0"/>
                <a:ea typeface="Calibri" pitchFamily="34" charset="-122"/>
                <a:cs typeface="Calibri" pitchFamily="34" charset="-120"/>
              </a:rPr>
              <a:t>20×</a:t>
            </a:r>
            <a:endParaRPr lang="en-US" sz="4000" dirty="0"/>
          </a:p>
        </p:txBody>
      </p:sp>
      <p:sp>
        <p:nvSpPr>
          <p:cNvPr id="30" name="Text 28"/>
          <p:cNvSpPr txBox="1"/>
          <p:nvPr/>
        </p:nvSpPr>
        <p:spPr>
          <a:xfrm>
            <a:off x="8800871" y="5120640"/>
            <a:ext cx="2430704" cy="64008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simulated seconds per real second</a:t>
            </a:r>
            <a:endParaRPr lang="en-US" sz="13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METHOD</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DIGITAL TWIN MODEL AND RELATIONSHIPS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5760720" cy="914400"/>
        </p:xfrm>
        <a:graphic>
          <a:graphicData uri="http://schemas.openxmlformats.org/drawingml/2006/table">
            <a:tbl>
              <a:tblPr/>
              <a:tblGrid>
                <a:gridCol w="1005840"/>
                <a:gridCol w="4754880"/>
              </a:tblGrid>
              <a:tr h="0">
                <a:tc>
                  <a:txBody>
                    <a:bodyPr/>
                    <a:lstStyle/>
                    <a:p>
                      <a:pPr algn="r" indent="0" marL="0">
                        <a:buNone/>
                      </a:pPr>
                      <a:r>
                        <a:rPr lang="en-US" sz="1500" b="1" dirty="0">
                          <a:solidFill>
                            <a:srgbClr val="14201C"/>
                          </a:solidFill>
                          <a:latin typeface="Calibri" pitchFamily="34" charset="0"/>
                          <a:ea typeface="Calibri" pitchFamily="34" charset="-122"/>
                          <a:cs typeface="Calibri" pitchFamily="34" charset="-120"/>
                        </a:rPr>
                        <a:t>Twins</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500" b="1" dirty="0">
                          <a:solidFill>
                            <a:srgbClr val="14201C"/>
                          </a:solidFill>
                          <a:latin typeface="Calibri" pitchFamily="34" charset="0"/>
                          <a:ea typeface="Calibri" pitchFamily="34" charset="-122"/>
                          <a:cs typeface="Calibri" pitchFamily="34" charset="-120"/>
                        </a:rPr>
                        <a:t>Kind</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haul trucks, 77 t</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excavator and loading face</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haul road, two lanes</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crusher with dump bay and ROM bin</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scenario controller</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r" indent="0" marL="0">
                        <a:buNone/>
                      </a:pPr>
                      <a:r>
                        <a:rPr lang="en-US" sz="1500" dirty="0">
                          <a:solidFill>
                            <a:srgbClr val="3F4E49"/>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500" dirty="0">
                          <a:solidFill>
                            <a:srgbClr val="3F4E49"/>
                          </a:solidFill>
                          <a:latin typeface="Calibri" pitchFamily="34" charset="0"/>
                          <a:ea typeface="Calibri" pitchFamily="34" charset="-122"/>
                          <a:cs typeface="Calibri" pitchFamily="34" charset="-120"/>
                        </a:rPr>
                        <a:t>mine aggregate, the parent</a:t>
                      </a:r>
                      <a:endParaRPr lang="en-US" sz="15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bl>
          </a:graphicData>
        </a:graphic>
      </p:graphicFrame>
      <p:sp>
        <p:nvSpPr>
          <p:cNvPr id="5" name="Text 2"/>
          <p:cNvSpPr txBox="1"/>
          <p:nvPr/>
        </p:nvSpPr>
        <p:spPr>
          <a:xfrm>
            <a:off x="685800" y="4892040"/>
            <a:ext cx="5760720" cy="91440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Links: </a:t>
            </a:r>
            <a:pPr indent="0" marL="0">
              <a:lnSpc>
                <a:spcPct val="112000"/>
              </a:lnSpc>
              <a:buNone/>
            </a:pPr>
            <a:r>
              <a:rPr lang="en-US" sz="1500" b="1" dirty="0">
                <a:solidFill>
                  <a:srgbClr val="14201C"/>
                </a:solidFill>
                <a:latin typeface="Calibri" pitchFamily="34" charset="0"/>
                <a:ea typeface="Calibri" pitchFamily="34" charset="-122"/>
                <a:cs typeface="Calibri" pitchFamily="34" charset="-120"/>
              </a:rPr>
              <a:t>13 material</a:t>
            </a:r>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 </a:t>
            </a:r>
            <a:pPr indent="0" marL="0">
              <a:lnSpc>
                <a:spcPct val="112000"/>
              </a:lnSpc>
              <a:buNone/>
            </a:pPr>
            <a:r>
              <a:rPr lang="en-US" sz="1500" b="1" dirty="0">
                <a:solidFill>
                  <a:srgbClr val="14201C"/>
                </a:solidFill>
                <a:latin typeface="Calibri" pitchFamily="34" charset="0"/>
                <a:ea typeface="Calibri" pitchFamily="34" charset="-122"/>
                <a:cs typeface="Calibri" pitchFamily="34" charset="-120"/>
              </a:rPr>
              <a:t>6 movement</a:t>
            </a:r>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 </a:t>
            </a:r>
            <a:pPr indent="0" marL="0">
              <a:lnSpc>
                <a:spcPct val="112000"/>
              </a:lnSpc>
              <a:buNone/>
            </a:pPr>
            <a:r>
              <a:rPr lang="en-US" sz="1500" b="1" dirty="0">
                <a:solidFill>
                  <a:srgbClr val="14201C"/>
                </a:solidFill>
                <a:latin typeface="Calibri" pitchFamily="34" charset="0"/>
                <a:ea typeface="Calibri" pitchFamily="34" charset="-122"/>
                <a:cs typeface="Calibri" pitchFamily="34" charset="-120"/>
              </a:rPr>
              <a:t>9 control</a:t>
            </a:r>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 </a:t>
            </a:r>
            <a:pPr indent="0" marL="0">
              <a:lnSpc>
                <a:spcPct val="112000"/>
              </a:lnSpc>
              <a:buNone/>
            </a:pPr>
            <a:r>
              <a:rPr lang="en-US" sz="1500" b="1" dirty="0">
                <a:solidFill>
                  <a:srgbClr val="14201C"/>
                </a:solidFill>
                <a:latin typeface="Calibri" pitchFamily="34" charset="0"/>
                <a:ea typeface="Calibri" pitchFamily="34" charset="-122"/>
                <a:cs typeface="Calibri" pitchFamily="34" charset="-120"/>
              </a:rPr>
              <a:t>10 hierarchy</a:t>
            </a:r>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 Control links never pretend to be ore flow; clicking a node opens that live twin.</a:t>
            </a:r>
            <a:endParaRPr lang="en-US" sz="1500" dirty="0"/>
          </a:p>
        </p:txBody>
      </p:sp>
      <p:pic>
        <p:nvPicPr>
          <p:cNvPr id="6" name="Image 0" descr="Mine model graph: the mine aggregate at the top, the excavator, six trucks HT-01 to HT-06 with their live states, the main haul road and the primary crusher, and the scenario controller, with material, movement and control links">    </p:cNvPr>
          <p:cNvPicPr>
            <a:picLocks noChangeAspect="1"/>
          </p:cNvPicPr>
          <p:nvPr/>
        </p:nvPicPr>
        <p:blipFill>
          <a:blip r:embed="rId1"/>
          <a:stretch>
            <a:fillRect/>
          </a:stretch>
        </p:blipFill>
        <p:spPr>
          <a:xfrm>
            <a:off x="7269480" y="1737360"/>
            <a:ext cx="4023360" cy="4023360"/>
          </a:xfrm>
          <a:prstGeom prst="rect">
            <a:avLst/>
          </a:prstGeom>
        </p:spPr>
      </p:pic>
      <p:sp>
        <p:nvSpPr>
          <p:cNvPr id="7" name="Text 3"/>
          <p:cNvSpPr txBox="1"/>
          <p:nvPr/>
        </p:nvSpPr>
        <p:spPr>
          <a:xfrm>
            <a:off x="7269480" y="5852160"/>
            <a:ext cx="4023360" cy="256032"/>
          </a:xfrm>
          <a:prstGeom prst="rect">
            <a:avLst/>
          </a:prstGeom>
          <a:noFill/>
          <a:ln/>
        </p:spPr>
        <p:txBody>
          <a:bodyPr wrap="square" lIns="0" tIns="0" rIns="0" bIns="0" rtlCol="0" anchor="t"/>
          <a:lstStyle/>
          <a:p>
            <a:pPr indent="0" marL="0">
              <a:lnSpc>
                <a:spcPct val="112000"/>
              </a:lnSpc>
              <a:buNone/>
            </a:pPr>
            <a:r>
              <a:rPr lang="en-US" sz="1100" dirty="0">
                <a:solidFill>
                  <a:srgbClr val="5E6D68"/>
                </a:solidFill>
                <a:latin typeface="Calibri" pitchFamily="34" charset="0"/>
                <a:ea typeface="Calibri" pitchFamily="34" charset="-122"/>
                <a:cs typeface="Calibri" pitchFamily="34" charset="-120"/>
              </a:rPr>
              <a:t>Mine model view (local demo mode, same engine)</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METHOD</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FUNCTIONAL MODULES OF THE TWIN</a:t>
            </a:r>
            <a:endParaRPr lang="en-US" sz="3000" dirty="0"/>
          </a:p>
        </p:txBody>
      </p:sp>
      <p:sp>
        <p:nvSpPr>
          <p:cNvPr id="4" name="Shape 2"/>
          <p:cNvSpPr/>
          <p:nvPr/>
        </p:nvSpPr>
        <p:spPr>
          <a:xfrm>
            <a:off x="685800" y="1737360"/>
            <a:ext cx="3423818" cy="1078992"/>
          </a:xfrm>
          <a:prstGeom prst="roundRect">
            <a:avLst>
              <a:gd name="adj" fmla="val 6780"/>
            </a:avLst>
          </a:prstGeom>
          <a:solidFill>
            <a:srgbClr val="FBF9F4"/>
          </a:solidFill>
          <a:ln w="9525">
            <a:solidFill>
              <a:srgbClr val="D9D2C3"/>
            </a:solidFill>
            <a:prstDash val="solid"/>
          </a:ln>
        </p:spPr>
      </p:sp>
      <p:sp>
        <p:nvSpPr>
          <p:cNvPr id="5" name="Shape 3"/>
          <p:cNvSpPr/>
          <p:nvPr/>
        </p:nvSpPr>
        <p:spPr>
          <a:xfrm>
            <a:off x="886968" y="1956816"/>
            <a:ext cx="182880" cy="182880"/>
          </a:xfrm>
          <a:prstGeom prst="ellipse">
            <a:avLst/>
          </a:prstGeom>
          <a:solidFill>
            <a:srgbClr val="0F7D72"/>
          </a:solidFill>
          <a:ln w="12700">
            <a:solidFill>
              <a:srgbClr val="FBF9F4"/>
            </a:solidFill>
            <a:prstDash val="solid"/>
          </a:ln>
        </p:spPr>
      </p:sp>
      <p:sp>
        <p:nvSpPr>
          <p:cNvPr id="6" name="Text 4"/>
          <p:cNvSpPr txBox="1"/>
          <p:nvPr/>
        </p:nvSpPr>
        <p:spPr>
          <a:xfrm>
            <a:off x="1188720" y="189280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Fleet supervision</a:t>
            </a:r>
            <a:endParaRPr lang="en-US" sz="1700" dirty="0"/>
          </a:p>
        </p:txBody>
      </p:sp>
      <p:sp>
        <p:nvSpPr>
          <p:cNvPr id="7" name="Text 5"/>
          <p:cNvSpPr txBox="1"/>
          <p:nvPr/>
        </p:nvSpPr>
        <p:spPr>
          <a:xfrm>
            <a:off x="1188720" y="224028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Each truck’s state, payload, speed, trips and cycle time</a:t>
            </a:r>
            <a:endParaRPr lang="en-US" sz="1300" dirty="0"/>
          </a:p>
        </p:txBody>
      </p:sp>
      <p:sp>
        <p:nvSpPr>
          <p:cNvPr id="8" name="Shape 6"/>
          <p:cNvSpPr/>
          <p:nvPr/>
        </p:nvSpPr>
        <p:spPr>
          <a:xfrm>
            <a:off x="4383938" y="1737360"/>
            <a:ext cx="3423818" cy="1078992"/>
          </a:xfrm>
          <a:prstGeom prst="roundRect">
            <a:avLst>
              <a:gd name="adj" fmla="val 6780"/>
            </a:avLst>
          </a:prstGeom>
          <a:solidFill>
            <a:srgbClr val="FBF9F4"/>
          </a:solidFill>
          <a:ln w="9525">
            <a:solidFill>
              <a:srgbClr val="D9D2C3"/>
            </a:solidFill>
            <a:prstDash val="solid"/>
          </a:ln>
        </p:spPr>
      </p:sp>
      <p:sp>
        <p:nvSpPr>
          <p:cNvPr id="9" name="Shape 7"/>
          <p:cNvSpPr/>
          <p:nvPr/>
        </p:nvSpPr>
        <p:spPr>
          <a:xfrm>
            <a:off x="4585106" y="1956816"/>
            <a:ext cx="182880" cy="182880"/>
          </a:xfrm>
          <a:prstGeom prst="ellipse">
            <a:avLst/>
          </a:prstGeom>
          <a:solidFill>
            <a:srgbClr val="0F7D72"/>
          </a:solidFill>
          <a:ln w="12700">
            <a:solidFill>
              <a:srgbClr val="FBF9F4"/>
            </a:solidFill>
            <a:prstDash val="solid"/>
          </a:ln>
        </p:spPr>
      </p:sp>
      <p:sp>
        <p:nvSpPr>
          <p:cNvPr id="10" name="Text 8"/>
          <p:cNvSpPr txBox="1"/>
          <p:nvPr/>
        </p:nvSpPr>
        <p:spPr>
          <a:xfrm>
            <a:off x="4886858" y="189280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Production monitor</a:t>
            </a:r>
            <a:endParaRPr lang="en-US" sz="1700" dirty="0"/>
          </a:p>
        </p:txBody>
      </p:sp>
      <p:sp>
        <p:nvSpPr>
          <p:cNvPr id="11" name="Text 9"/>
          <p:cNvSpPr txBox="1"/>
          <p:nvPr/>
        </p:nvSpPr>
        <p:spPr>
          <a:xfrm>
            <a:off x="4886858" y="224028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Throughput, live constraint, queues and ROM bin level</a:t>
            </a:r>
            <a:endParaRPr lang="en-US" sz="1300" dirty="0"/>
          </a:p>
        </p:txBody>
      </p:sp>
      <p:sp>
        <p:nvSpPr>
          <p:cNvPr id="12" name="Shape 10"/>
          <p:cNvSpPr/>
          <p:nvPr/>
        </p:nvSpPr>
        <p:spPr>
          <a:xfrm>
            <a:off x="8082077" y="1737360"/>
            <a:ext cx="3423818" cy="1078992"/>
          </a:xfrm>
          <a:prstGeom prst="roundRect">
            <a:avLst>
              <a:gd name="adj" fmla="val 6780"/>
            </a:avLst>
          </a:prstGeom>
          <a:solidFill>
            <a:srgbClr val="FBF9F4"/>
          </a:solidFill>
          <a:ln w="9525">
            <a:solidFill>
              <a:srgbClr val="D9D2C3"/>
            </a:solidFill>
            <a:prstDash val="solid"/>
          </a:ln>
        </p:spPr>
      </p:sp>
      <p:sp>
        <p:nvSpPr>
          <p:cNvPr id="13" name="Shape 11"/>
          <p:cNvSpPr/>
          <p:nvPr/>
        </p:nvSpPr>
        <p:spPr>
          <a:xfrm>
            <a:off x="8283245" y="1956816"/>
            <a:ext cx="182880" cy="182880"/>
          </a:xfrm>
          <a:prstGeom prst="ellipse">
            <a:avLst/>
          </a:prstGeom>
          <a:solidFill>
            <a:srgbClr val="0F7D72"/>
          </a:solidFill>
          <a:ln w="12700">
            <a:solidFill>
              <a:srgbClr val="FBF9F4"/>
            </a:solidFill>
            <a:prstDash val="solid"/>
          </a:ln>
        </p:spPr>
      </p:sp>
      <p:sp>
        <p:nvSpPr>
          <p:cNvPr id="14" name="Text 12"/>
          <p:cNvSpPr txBox="1"/>
          <p:nvPr/>
        </p:nvSpPr>
        <p:spPr>
          <a:xfrm>
            <a:off x="8584997" y="189280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What-if engine</a:t>
            </a:r>
            <a:endParaRPr lang="en-US" sz="1700" dirty="0"/>
          </a:p>
        </p:txBody>
      </p:sp>
      <p:sp>
        <p:nvSpPr>
          <p:cNvPr id="15" name="Text 13"/>
          <p:cNvSpPr txBox="1"/>
          <p:nvPr/>
        </p:nvSpPr>
        <p:spPr>
          <a:xfrm>
            <a:off x="8584997" y="224028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Three disruptions started and reset from the stand</a:t>
            </a:r>
            <a:endParaRPr lang="en-US" sz="1300" dirty="0"/>
          </a:p>
        </p:txBody>
      </p:sp>
      <p:sp>
        <p:nvSpPr>
          <p:cNvPr id="16" name="Shape 14"/>
          <p:cNvSpPr/>
          <p:nvPr/>
        </p:nvSpPr>
        <p:spPr>
          <a:xfrm>
            <a:off x="685800" y="3017520"/>
            <a:ext cx="3423818" cy="1078992"/>
          </a:xfrm>
          <a:prstGeom prst="roundRect">
            <a:avLst>
              <a:gd name="adj" fmla="val 6780"/>
            </a:avLst>
          </a:prstGeom>
          <a:solidFill>
            <a:srgbClr val="FBF9F4"/>
          </a:solidFill>
          <a:ln w="9525">
            <a:solidFill>
              <a:srgbClr val="D9D2C3"/>
            </a:solidFill>
            <a:prstDash val="solid"/>
          </a:ln>
        </p:spPr>
      </p:sp>
      <p:sp>
        <p:nvSpPr>
          <p:cNvPr id="17" name="Shape 15"/>
          <p:cNvSpPr/>
          <p:nvPr/>
        </p:nvSpPr>
        <p:spPr>
          <a:xfrm>
            <a:off x="886968" y="3236976"/>
            <a:ext cx="182880" cy="182880"/>
          </a:xfrm>
          <a:prstGeom prst="ellipse">
            <a:avLst/>
          </a:prstGeom>
          <a:solidFill>
            <a:srgbClr val="C9821F"/>
          </a:solidFill>
          <a:ln w="12700">
            <a:solidFill>
              <a:srgbClr val="FBF9F4"/>
            </a:solidFill>
            <a:prstDash val="solid"/>
          </a:ln>
        </p:spPr>
      </p:sp>
      <p:sp>
        <p:nvSpPr>
          <p:cNvPr id="18" name="Text 16"/>
          <p:cNvSpPr txBox="1"/>
          <p:nvPr/>
        </p:nvSpPr>
        <p:spPr>
          <a:xfrm>
            <a:off x="1188720" y="317296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Smart Dispatch</a:t>
            </a:r>
            <a:endParaRPr lang="en-US" sz="1700" dirty="0"/>
          </a:p>
        </p:txBody>
      </p:sp>
      <p:sp>
        <p:nvSpPr>
          <p:cNvPr id="19" name="Text 17"/>
          <p:cNvSpPr txBox="1"/>
          <p:nvPr/>
        </p:nvSpPr>
        <p:spPr>
          <a:xfrm>
            <a:off x="1188720" y="352044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Sizes the fleet to the bottleneck and parks surplus trucks</a:t>
            </a:r>
            <a:endParaRPr lang="en-US" sz="1300" dirty="0"/>
          </a:p>
        </p:txBody>
      </p:sp>
      <p:sp>
        <p:nvSpPr>
          <p:cNvPr id="20" name="Shape 18"/>
          <p:cNvSpPr/>
          <p:nvPr/>
        </p:nvSpPr>
        <p:spPr>
          <a:xfrm>
            <a:off x="4383938" y="3017520"/>
            <a:ext cx="3423818" cy="1078992"/>
          </a:xfrm>
          <a:prstGeom prst="roundRect">
            <a:avLst>
              <a:gd name="adj" fmla="val 6780"/>
            </a:avLst>
          </a:prstGeom>
          <a:solidFill>
            <a:srgbClr val="FBF9F4"/>
          </a:solidFill>
          <a:ln w="9525">
            <a:solidFill>
              <a:srgbClr val="D9D2C3"/>
            </a:solidFill>
            <a:prstDash val="solid"/>
          </a:ln>
        </p:spPr>
      </p:sp>
      <p:sp>
        <p:nvSpPr>
          <p:cNvPr id="21" name="Shape 19"/>
          <p:cNvSpPr/>
          <p:nvPr/>
        </p:nvSpPr>
        <p:spPr>
          <a:xfrm>
            <a:off x="4585106" y="3236976"/>
            <a:ext cx="182880" cy="182880"/>
          </a:xfrm>
          <a:prstGeom prst="ellipse">
            <a:avLst/>
          </a:prstGeom>
          <a:solidFill>
            <a:srgbClr val="C9821F"/>
          </a:solidFill>
          <a:ln w="12700">
            <a:solidFill>
              <a:srgbClr val="FBF9F4"/>
            </a:solidFill>
            <a:prstDash val="solid"/>
          </a:ln>
        </p:spPr>
      </p:sp>
      <p:sp>
        <p:nvSpPr>
          <p:cNvPr id="22" name="Text 20"/>
          <p:cNvSpPr txBox="1"/>
          <p:nvPr/>
        </p:nvSpPr>
        <p:spPr>
          <a:xfrm>
            <a:off x="4886858" y="317296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Decision workspace</a:t>
            </a:r>
            <a:endParaRPr lang="en-US" sz="1700" dirty="0"/>
          </a:p>
        </p:txBody>
      </p:sp>
      <p:sp>
        <p:nvSpPr>
          <p:cNvPr id="23" name="Text 21"/>
          <p:cNvSpPr txBox="1"/>
          <p:nvPr/>
        </p:nvSpPr>
        <p:spPr>
          <a:xfrm>
            <a:off x="4886858" y="352044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Recommendation, evidence and a confirmed Apply control</a:t>
            </a:r>
            <a:endParaRPr lang="en-US" sz="1300" dirty="0"/>
          </a:p>
        </p:txBody>
      </p:sp>
      <p:sp>
        <p:nvSpPr>
          <p:cNvPr id="24" name="Shape 22"/>
          <p:cNvSpPr/>
          <p:nvPr/>
        </p:nvSpPr>
        <p:spPr>
          <a:xfrm>
            <a:off x="8082077" y="3017520"/>
            <a:ext cx="3423818" cy="1078992"/>
          </a:xfrm>
          <a:prstGeom prst="roundRect">
            <a:avLst>
              <a:gd name="adj" fmla="val 6780"/>
            </a:avLst>
          </a:prstGeom>
          <a:solidFill>
            <a:srgbClr val="FBF9F4"/>
          </a:solidFill>
          <a:ln w="9525">
            <a:solidFill>
              <a:srgbClr val="D9D2C3"/>
            </a:solidFill>
            <a:prstDash val="solid"/>
          </a:ln>
        </p:spPr>
      </p:sp>
      <p:sp>
        <p:nvSpPr>
          <p:cNvPr id="25" name="Shape 23"/>
          <p:cNvSpPr/>
          <p:nvPr/>
        </p:nvSpPr>
        <p:spPr>
          <a:xfrm>
            <a:off x="8283245" y="3236976"/>
            <a:ext cx="182880" cy="182880"/>
          </a:xfrm>
          <a:prstGeom prst="ellipse">
            <a:avLst/>
          </a:prstGeom>
          <a:solidFill>
            <a:srgbClr val="C9821F"/>
          </a:solidFill>
          <a:ln w="12700">
            <a:solidFill>
              <a:srgbClr val="FBF9F4"/>
            </a:solidFill>
            <a:prstDash val="solid"/>
          </a:ln>
        </p:spPr>
      </p:sp>
      <p:sp>
        <p:nvSpPr>
          <p:cNvPr id="26" name="Text 24"/>
          <p:cNvSpPr txBox="1"/>
          <p:nvPr/>
        </p:nvSpPr>
        <p:spPr>
          <a:xfrm>
            <a:off x="8584997" y="317296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Show effect</a:t>
            </a:r>
            <a:endParaRPr lang="en-US" sz="1700" dirty="0"/>
          </a:p>
        </p:txBody>
      </p:sp>
      <p:sp>
        <p:nvSpPr>
          <p:cNvPr id="27" name="Text 25"/>
          <p:cNvSpPr txBox="1"/>
          <p:nvPr/>
        </p:nvSpPr>
        <p:spPr>
          <a:xfrm>
            <a:off x="8584997" y="352044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Focuses the affected assets and explains the causal chain</a:t>
            </a:r>
            <a:endParaRPr lang="en-US" sz="1300" dirty="0"/>
          </a:p>
        </p:txBody>
      </p:sp>
      <p:sp>
        <p:nvSpPr>
          <p:cNvPr id="28" name="Shape 26"/>
          <p:cNvSpPr/>
          <p:nvPr/>
        </p:nvSpPr>
        <p:spPr>
          <a:xfrm>
            <a:off x="685800" y="4297680"/>
            <a:ext cx="3423818" cy="1078992"/>
          </a:xfrm>
          <a:prstGeom prst="roundRect">
            <a:avLst>
              <a:gd name="adj" fmla="val 6780"/>
            </a:avLst>
          </a:prstGeom>
          <a:solidFill>
            <a:srgbClr val="FBF9F4"/>
          </a:solidFill>
          <a:ln w="9525">
            <a:solidFill>
              <a:srgbClr val="D9D2C3"/>
            </a:solidFill>
            <a:prstDash val="solid"/>
          </a:ln>
        </p:spPr>
      </p:sp>
      <p:sp>
        <p:nvSpPr>
          <p:cNvPr id="29" name="Shape 27"/>
          <p:cNvSpPr/>
          <p:nvPr/>
        </p:nvSpPr>
        <p:spPr>
          <a:xfrm>
            <a:off x="886968" y="4517136"/>
            <a:ext cx="182880" cy="182880"/>
          </a:xfrm>
          <a:prstGeom prst="ellipse">
            <a:avLst/>
          </a:prstGeom>
          <a:solidFill>
            <a:srgbClr val="5E6D68"/>
          </a:solidFill>
          <a:ln w="12700">
            <a:solidFill>
              <a:srgbClr val="FBF9F4"/>
            </a:solidFill>
            <a:prstDash val="solid"/>
          </a:ln>
        </p:spPr>
      </p:sp>
      <p:sp>
        <p:nvSpPr>
          <p:cNvPr id="30" name="Text 28"/>
          <p:cNvSpPr txBox="1"/>
          <p:nvPr/>
        </p:nvSpPr>
        <p:spPr>
          <a:xfrm>
            <a:off x="1188720" y="445312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Mine model explorer</a:t>
            </a:r>
            <a:endParaRPr lang="en-US" sz="1700" dirty="0"/>
          </a:p>
        </p:txBody>
      </p:sp>
      <p:sp>
        <p:nvSpPr>
          <p:cNvPr id="31" name="Text 29"/>
          <p:cNvSpPr txBox="1"/>
          <p:nvPr/>
        </p:nvSpPr>
        <p:spPr>
          <a:xfrm>
            <a:off x="1188720" y="480060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The 11 twins and 38 typed links, each node clickable</a:t>
            </a:r>
            <a:endParaRPr lang="en-US" sz="1300" dirty="0"/>
          </a:p>
        </p:txBody>
      </p:sp>
      <p:sp>
        <p:nvSpPr>
          <p:cNvPr id="32" name="Shape 30"/>
          <p:cNvSpPr/>
          <p:nvPr/>
        </p:nvSpPr>
        <p:spPr>
          <a:xfrm>
            <a:off x="4383938" y="4297680"/>
            <a:ext cx="3423818" cy="1078992"/>
          </a:xfrm>
          <a:prstGeom prst="roundRect">
            <a:avLst>
              <a:gd name="adj" fmla="val 6780"/>
            </a:avLst>
          </a:prstGeom>
          <a:solidFill>
            <a:srgbClr val="FBF9F4"/>
          </a:solidFill>
          <a:ln w="9525">
            <a:solidFill>
              <a:srgbClr val="D9D2C3"/>
            </a:solidFill>
            <a:prstDash val="solid"/>
          </a:ln>
        </p:spPr>
      </p:sp>
      <p:sp>
        <p:nvSpPr>
          <p:cNvPr id="33" name="Shape 31"/>
          <p:cNvSpPr/>
          <p:nvPr/>
        </p:nvSpPr>
        <p:spPr>
          <a:xfrm>
            <a:off x="4585106" y="4517136"/>
            <a:ext cx="182880" cy="182880"/>
          </a:xfrm>
          <a:prstGeom prst="ellipse">
            <a:avLst/>
          </a:prstGeom>
          <a:solidFill>
            <a:srgbClr val="5E6D68"/>
          </a:solidFill>
          <a:ln w="12700">
            <a:solidFill>
              <a:srgbClr val="FBF9F4"/>
            </a:solidFill>
            <a:prstDash val="solid"/>
          </a:ln>
        </p:spPr>
      </p:sp>
      <p:sp>
        <p:nvSpPr>
          <p:cNvPr id="34" name="Text 32"/>
          <p:cNvSpPr txBox="1"/>
          <p:nvPr/>
        </p:nvSpPr>
        <p:spPr>
          <a:xfrm>
            <a:off x="4886858" y="445312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Fuel and CO₂ estimate</a:t>
            </a:r>
            <a:endParaRPr lang="en-US" sz="1700" dirty="0"/>
          </a:p>
        </p:txBody>
      </p:sp>
      <p:sp>
        <p:nvSpPr>
          <p:cNvPr id="35" name="Text 33"/>
          <p:cNvSpPr txBox="1"/>
          <p:nvPr/>
        </p:nvSpPr>
        <p:spPr>
          <a:xfrm>
            <a:off x="4886858" y="480060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Shift diesel and tank-to-wheel CO₂, labelled estimates</a:t>
            </a:r>
            <a:endParaRPr lang="en-US" sz="1300" dirty="0"/>
          </a:p>
        </p:txBody>
      </p:sp>
      <p:sp>
        <p:nvSpPr>
          <p:cNvPr id="36" name="Shape 34"/>
          <p:cNvSpPr/>
          <p:nvPr/>
        </p:nvSpPr>
        <p:spPr>
          <a:xfrm>
            <a:off x="8082077" y="4297680"/>
            <a:ext cx="3423818" cy="1078992"/>
          </a:xfrm>
          <a:prstGeom prst="roundRect">
            <a:avLst>
              <a:gd name="adj" fmla="val 6780"/>
            </a:avLst>
          </a:prstGeom>
          <a:solidFill>
            <a:srgbClr val="FBF9F4"/>
          </a:solidFill>
          <a:ln w="9525">
            <a:solidFill>
              <a:srgbClr val="D9D2C3"/>
            </a:solidFill>
            <a:prstDash val="solid"/>
          </a:ln>
        </p:spPr>
      </p:sp>
      <p:sp>
        <p:nvSpPr>
          <p:cNvPr id="37" name="Shape 35"/>
          <p:cNvSpPr/>
          <p:nvPr/>
        </p:nvSpPr>
        <p:spPr>
          <a:xfrm>
            <a:off x="8283245" y="4517136"/>
            <a:ext cx="182880" cy="182880"/>
          </a:xfrm>
          <a:prstGeom prst="ellipse">
            <a:avLst/>
          </a:prstGeom>
          <a:solidFill>
            <a:srgbClr val="5E6D68"/>
          </a:solidFill>
          <a:ln w="12700">
            <a:solidFill>
              <a:srgbClr val="FBF9F4"/>
            </a:solidFill>
            <a:prstDash val="solid"/>
          </a:ln>
        </p:spPr>
      </p:sp>
      <p:sp>
        <p:nvSpPr>
          <p:cNvPr id="38" name="Text 36"/>
          <p:cNvSpPr txBox="1"/>
          <p:nvPr/>
        </p:nvSpPr>
        <p:spPr>
          <a:xfrm>
            <a:off x="8584997" y="4453128"/>
            <a:ext cx="2738018" cy="329184"/>
          </a:xfrm>
          <a:prstGeom prst="rect">
            <a:avLst/>
          </a:prstGeom>
          <a:noFill/>
          <a:ln/>
        </p:spPr>
        <p:txBody>
          <a:bodyPr wrap="square" lIns="0" tIns="0" rIns="0" bIns="0" rtlCol="0" anchor="t"/>
          <a:lstStyle/>
          <a:p>
            <a:pPr indent="0" marL="0">
              <a:lnSpc>
                <a:spcPct val="112000"/>
              </a:lnSpc>
              <a:buNone/>
            </a:pPr>
            <a:r>
              <a:rPr lang="en-US" sz="1700" b="1" dirty="0">
                <a:solidFill>
                  <a:srgbClr val="14201C"/>
                </a:solidFill>
                <a:latin typeface="Calibri" pitchFamily="34" charset="0"/>
                <a:ea typeface="Calibri" pitchFamily="34" charset="-122"/>
                <a:cs typeface="Calibri" pitchFamily="34" charset="-120"/>
              </a:rPr>
              <a:t>Guided demonstration</a:t>
            </a:r>
            <a:endParaRPr lang="en-US" sz="1700" dirty="0"/>
          </a:p>
        </p:txBody>
      </p:sp>
      <p:sp>
        <p:nvSpPr>
          <p:cNvPr id="39" name="Text 37"/>
          <p:cNvSpPr txBox="1"/>
          <p:nvPr/>
        </p:nvSpPr>
        <p:spPr>
          <a:xfrm>
            <a:off x="8584997" y="4800600"/>
            <a:ext cx="2738018" cy="502920"/>
          </a:xfrm>
          <a:prstGeom prst="rect">
            <a:avLst/>
          </a:prstGeom>
          <a:noFill/>
          <a:ln/>
        </p:spPr>
        <p:txBody>
          <a:bodyPr wrap="square" lIns="0" tIns="0" rIns="0" bIns="0" rtlCol="0" anchor="t"/>
          <a:lstStyle/>
          <a:p>
            <a:pPr indent="0" marL="0">
              <a:lnSpc>
                <a:spcPct val="112000"/>
              </a:lnSpc>
              <a:buNone/>
            </a:pPr>
            <a:r>
              <a:rPr lang="en-US" sz="1300" dirty="0">
                <a:solidFill>
                  <a:srgbClr val="3F4E49"/>
                </a:solidFill>
                <a:latin typeface="Calibri" pitchFamily="34" charset="0"/>
                <a:ea typeface="Calibri" pitchFamily="34" charset="-122"/>
                <a:cs typeface="Calibri" pitchFamily="34" charset="-120"/>
              </a:rPr>
              <a:t>Six steps on real controls, each confirmed by the twins</a:t>
            </a:r>
            <a:endParaRPr lang="en-US" sz="1300" dirty="0"/>
          </a:p>
        </p:txBody>
      </p:sp>
      <p:sp>
        <p:nvSpPr>
          <p:cNvPr id="40" name="Text 38"/>
          <p:cNvSpPr txBox="1"/>
          <p:nvPr/>
        </p:nvSpPr>
        <p:spPr>
          <a:xfrm>
            <a:off x="685800" y="5852160"/>
            <a:ext cx="10820095" cy="274320"/>
          </a:xfrm>
          <a:prstGeom prst="rect">
            <a:avLst/>
          </a:prstGeom>
          <a:noFill/>
          <a:ln/>
        </p:spPr>
        <p:txBody>
          <a:bodyPr wrap="square" lIns="0" tIns="0" rIns="0" bIns="0" rtlCol="0" anchor="t"/>
          <a:lstStyle/>
          <a:p>
            <a:pPr indent="0" marL="0">
              <a:lnSpc>
                <a:spcPct val="112000"/>
              </a:lnSpc>
              <a:buNone/>
            </a:pPr>
            <a:r>
              <a:rPr lang="en-US" sz="1200" dirty="0">
                <a:solidFill>
                  <a:srgbClr val="5E6D68"/>
                </a:solidFill>
                <a:latin typeface="Calibri" pitchFamily="34" charset="0"/>
                <a:ea typeface="Calibri" pitchFamily="34" charset="-122"/>
                <a:cs typeface="Calibri" pitchFamily="34" charset="-120"/>
              </a:rPr>
              <a:t>Also available as technical layers: equipment specifications, IoT sensors, topology, data flow, weather and safety.</a:t>
            </a:r>
            <a:endParaRPr lang="en-US" sz="12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RESULTS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WHAT-IF SCENARIO ANALYSIS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2103120"/>
                <a:gridCol w="1188720"/>
                <a:gridCol w="868680"/>
                <a:gridCol w="1097280"/>
                <a:gridCol w="1325880"/>
                <a:gridCol w="4236415"/>
              </a:tblGrid>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Condition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Output t/h</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Cycle</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Face wait</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Crusher wait</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What the dispatcher should do</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Normal</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36.0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13.6</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Loader limits output: park surplus trucks</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HT-01 breakdown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30.1</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7.6</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Tow the blocked lane; five trucks still feed the loader</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Road at 10.72 km/h</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645.3</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42.8</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Restore road speed; keep all six trucks cycling</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Crusher −45 %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495.0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51.6</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25.4</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Restore the crusher; park trucks to limit dump queueing</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bl>
          </a:graphicData>
        </a:graphic>
      </p:graphicFrame>
      <p:sp>
        <p:nvSpPr>
          <p:cNvPr id="5" name="Text 2"/>
          <p:cNvSpPr txBox="1"/>
          <p:nvPr/>
        </p:nvSpPr>
        <p:spPr>
          <a:xfrm>
            <a:off x="685800" y="4937760"/>
            <a:ext cx="10820095" cy="64008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Hours 2–9 after a common four-hour warm-up, from compare_scenarios.py. Cycle and waits in minutes. Every scenario starts and resets from the stand without code changes.</a:t>
            </a:r>
            <a:endParaRPr lang="en-US" sz="14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RESULTS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PREDICTED CAPACITY MATCHES THE SIMULATION</a:t>
            </a:r>
            <a:endParaRPr lang="en-US" sz="3000" dirty="0"/>
          </a:p>
        </p:txBody>
      </p:sp>
      <p:sp>
        <p:nvSpPr>
          <p:cNvPr id="4" name="Shape 2"/>
          <p:cNvSpPr/>
          <p:nvPr/>
        </p:nvSpPr>
        <p:spPr>
          <a:xfrm>
            <a:off x="685800" y="1828800"/>
            <a:ext cx="10820095" cy="566928"/>
          </a:xfrm>
          <a:prstGeom prst="roundRect">
            <a:avLst>
              <a:gd name="adj" fmla="val 12903"/>
            </a:avLst>
          </a:prstGeom>
          <a:solidFill>
            <a:srgbClr val="E9E3D5"/>
          </a:solidFill>
          <a:ln w="9525">
            <a:solidFill>
              <a:srgbClr val="E9E3D5"/>
            </a:solidFill>
            <a:prstDash val="solid"/>
          </a:ln>
        </p:spPr>
      </p:sp>
      <p:sp>
        <p:nvSpPr>
          <p:cNvPr id="5" name="Text 3"/>
          <p:cNvSpPr txBox="1"/>
          <p:nvPr/>
        </p:nvSpPr>
        <p:spPr>
          <a:xfrm>
            <a:off x="960120" y="1956816"/>
            <a:ext cx="10271455" cy="329184"/>
          </a:xfrm>
          <a:prstGeom prst="rect">
            <a:avLst/>
          </a:prstGeom>
          <a:noFill/>
          <a:ln/>
        </p:spPr>
        <p:txBody>
          <a:bodyPr wrap="square" lIns="0" tIns="0" rIns="0" bIns="0" rtlCol="0" anchor="t"/>
          <a:lstStyle/>
          <a:p>
            <a:pPr indent="0" marL="0">
              <a:lnSpc>
                <a:spcPct val="112000"/>
              </a:lnSpc>
              <a:buNone/>
            </a:pPr>
            <a:r>
              <a:rPr lang="en-US" sz="1600" b="1" dirty="0">
                <a:solidFill>
                  <a:srgbClr val="14201C"/>
                </a:solidFill>
                <a:latin typeface="Courier New" pitchFamily="34" charset="0"/>
                <a:ea typeface="Courier New" pitchFamily="34" charset="-122"/>
                <a:cs typeface="Courier New" pitchFamily="34" charset="-120"/>
              </a:rPr>
              <a:t>capacity = min(fleet supply, loading 770, dump 4,620, crusher 900 or 495) t/h</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697480"/>
          <a:ext cx="10820095" cy="914400"/>
        </p:xfrm>
        <a:graphic>
          <a:graphicData uri="http://schemas.openxmlformats.org/drawingml/2006/table">
            <a:tbl>
              <a:tblPr/>
              <a:tblGrid>
                <a:gridCol w="2651760"/>
                <a:gridCol w="2926080"/>
                <a:gridCol w="1828800"/>
                <a:gridCol w="1920240"/>
                <a:gridCol w="1493215"/>
              </a:tblGrid>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Condition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Predicted constraint</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Predicted t/h</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Simulated t/h</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b="1" dirty="0">
                          <a:solidFill>
                            <a:srgbClr val="14201C"/>
                          </a:solidFill>
                          <a:latin typeface="Calibri" pitchFamily="34" charset="0"/>
                          <a:ea typeface="Calibri" pitchFamily="34" charset="-122"/>
                          <a:cs typeface="Calibri" pitchFamily="34" charset="-120"/>
                        </a:rPr>
                        <a:t>Gap</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Normal</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Loading</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HT-01 breakdown</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Loading</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770.0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Road at 10.72 km/h</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Haul-road travel</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647.4</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645.3</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−0.3 %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600" b="1" dirty="0">
                          <a:solidFill>
                            <a:srgbClr val="14201C"/>
                          </a:solidFill>
                          <a:latin typeface="Calibri" pitchFamily="34" charset="0"/>
                          <a:ea typeface="Calibri" pitchFamily="34" charset="-122"/>
                          <a:cs typeface="Calibri" pitchFamily="34" charset="-120"/>
                        </a:rPr>
                        <a:t>Crusher −45 %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l" indent="0" marL="0">
                        <a:buNone/>
                      </a:pPr>
                      <a:r>
                        <a:rPr lang="en-US" sz="1600" dirty="0">
                          <a:solidFill>
                            <a:srgbClr val="3F4E49"/>
                          </a:solidFill>
                          <a:latin typeface="Calibri" pitchFamily="34" charset="0"/>
                          <a:ea typeface="Calibri" pitchFamily="34" charset="-122"/>
                          <a:cs typeface="Calibri" pitchFamily="34" charset="-120"/>
                        </a:rPr>
                        <a:t>Crusher</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495</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495.0</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600" dirty="0">
                          <a:solidFill>
                            <a:srgbClr val="3F4E49"/>
                          </a:solidFill>
                          <a:latin typeface="Calibri" pitchFamily="34" charset="0"/>
                          <a:ea typeface="Calibri" pitchFamily="34" charset="-122"/>
                          <a:cs typeface="Calibri" pitchFamily="34" charset="-120"/>
                        </a:rPr>
                        <a:t>0.0 %</a:t>
                      </a:r>
                      <a:endParaRPr lang="en-US" sz="16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bl>
          </a:graphicData>
        </a:graphic>
      </p:graphicFrame>
      <p:sp>
        <p:nvSpPr>
          <p:cNvPr id="7" name="Text 4"/>
          <p:cNvSpPr txBox="1"/>
          <p:nvPr/>
        </p:nvSpPr>
        <p:spPr>
          <a:xfrm>
            <a:off x="685800" y="5257800"/>
            <a:ext cx="10820095" cy="5486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The predicted constraint equals the live, measured constraint in all four conditions. Simulated values: hours 2–9 after a four-hour warm-up.</a:t>
            </a:r>
            <a:endParaRPr lang="en-US" sz="14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RESULTS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TRUCK BREAKDOWN: LANE-SPECIFIC CAUSE AND EFFECT</a:t>
            </a:r>
            <a:endParaRPr lang="en-US" sz="3000" dirty="0"/>
          </a:p>
        </p:txBody>
      </p:sp>
      <p:pic>
        <p:nvPicPr>
          <p:cNvPr id="4" name="Image 0" descr="Breakdown in the 3D mine: the alert names HT-01 stopped on the haul road blocking the crusher-bound lane with one truck held behind it; the failed truck has a red tag, its lane is marked red and the opposite lane is labelled open">    </p:cNvPr>
          <p:cNvPicPr>
            <a:picLocks noChangeAspect="1"/>
          </p:cNvPicPr>
          <p:nvPr/>
        </p:nvPicPr>
        <p:blipFill>
          <a:blip r:embed="rId1"/>
          <a:stretch>
            <a:fillRect/>
          </a:stretch>
        </p:blipFill>
        <p:spPr>
          <a:xfrm>
            <a:off x="685800" y="1783080"/>
            <a:ext cx="5760720" cy="4197096"/>
          </a:xfrm>
          <a:prstGeom prst="rect">
            <a:avLst/>
          </a:prstGeom>
        </p:spPr>
      </p:pic>
      <p:sp>
        <p:nvSpPr>
          <p:cNvPr id="5" name="Text 2"/>
          <p:cNvSpPr txBox="1"/>
          <p:nvPr/>
        </p:nvSpPr>
        <p:spPr>
          <a:xfrm>
            <a:off x="6812280" y="2103120"/>
            <a:ext cx="4663440" cy="2560320"/>
          </a:xfrm>
          <a:prstGeom prst="rect">
            <a:avLst/>
          </a:prstGeom>
          <a:noFill/>
          <a:ln/>
        </p:spPr>
        <p:txBody>
          <a:bodyPr wrap="square" lIns="0" tIns="0" rIns="0" bIns="0" rtlCol="0" anchor="t"/>
          <a:lstStyle/>
          <a:p>
            <a:pPr marL="342900" indent="-342900">
              <a:lnSpc>
                <a:spcPct val="112000"/>
              </a:lnSpc>
              <a:spcAft>
                <a:spcPts val="1000"/>
              </a:spcAft>
              <a:buSzPct val="100000"/>
              <a:buFont typeface="+mj-lt"/>
              <a:buAutoNum type="arabicPeriod" startAt="1"/>
            </a:pPr>
            <a:r>
              <a:rPr lang="en-US" sz="1700" dirty="0">
                <a:solidFill>
                  <a:srgbClr val="3F4E49"/>
                </a:solidFill>
                <a:latin typeface="Calibri" pitchFamily="34" charset="0"/>
                <a:ea typeface="Calibri" pitchFamily="34" charset="-122"/>
                <a:cs typeface="Calibri" pitchFamily="34" charset="-120"/>
              </a:rPr>
              <a:t>HT-01 stops at 0 km/h on the haul road.</a:t>
            </a:r>
            <a:endParaRPr lang="en-US" sz="1700" dirty="0"/>
          </a:p>
          <a:p>
            <a:pPr marL="342900" indent="-342900">
              <a:lnSpc>
                <a:spcPct val="112000"/>
              </a:lnSpc>
              <a:spcAft>
                <a:spcPts val="1000"/>
              </a:spcAft>
              <a:buSzPct val="100000"/>
              <a:buFont typeface="+mj-lt"/>
              <a:buAutoNum type="arabicPeriod" startAt="1"/>
            </a:pPr>
            <a:r>
              <a:rPr lang="en-US" sz="1700" dirty="0">
                <a:solidFill>
                  <a:srgbClr val="3F4E49"/>
                </a:solidFill>
                <a:latin typeface="Calibri" pitchFamily="34" charset="0"/>
                <a:ea typeface="Calibri" pitchFamily="34" charset="-122"/>
                <a:cs typeface="Calibri" pitchFamily="34" charset="-120"/>
              </a:rPr>
              <a:t>Only its own lane is blocked; opposing traffic keeps moving.</a:t>
            </a:r>
            <a:endParaRPr lang="en-US" sz="1700" dirty="0"/>
          </a:p>
          <a:p>
            <a:pPr marL="342900" indent="-342900">
              <a:lnSpc>
                <a:spcPct val="112000"/>
              </a:lnSpc>
              <a:spcAft>
                <a:spcPts val="1000"/>
              </a:spcAft>
              <a:buSzPct val="100000"/>
              <a:buFont typeface="+mj-lt"/>
              <a:buAutoNum type="arabicPeriod" startAt="1"/>
            </a:pPr>
            <a:r>
              <a:rPr lang="en-US" sz="1700" dirty="0">
                <a:solidFill>
                  <a:srgbClr val="3F4E49"/>
                </a:solidFill>
                <a:latin typeface="Calibri" pitchFamily="34" charset="0"/>
                <a:ea typeface="Calibri" pitchFamily="34" charset="-122"/>
                <a:cs typeface="Calibri" pitchFamily="34" charset="-120"/>
              </a:rPr>
              <a:t>Towed clear after 20 simulated minutes.</a:t>
            </a:r>
            <a:endParaRPr lang="en-US" sz="1700" dirty="0"/>
          </a:p>
          <a:p>
            <a:pPr marL="342900" indent="-342900">
              <a:lnSpc>
                <a:spcPct val="112000"/>
              </a:lnSpc>
              <a:spcAft>
                <a:spcPts val="1000"/>
              </a:spcAft>
              <a:buSzPct val="100000"/>
              <a:buFont typeface="+mj-lt"/>
              <a:buAutoNum type="arabicPeriod" startAt="1"/>
            </a:pPr>
            <a:r>
              <a:rPr lang="en-US" sz="1700" dirty="0">
                <a:solidFill>
                  <a:srgbClr val="3F4E49"/>
                </a:solidFill>
                <a:latin typeface="Calibri" pitchFamily="34" charset="0"/>
                <a:ea typeface="Calibri" pitchFamily="34" charset="-122"/>
                <a:cs typeface="Calibri" pitchFamily="34" charset="-120"/>
              </a:rPr>
              <a:t>First hour: 770 → 691 t/h, −10.3 %.</a:t>
            </a:r>
            <a:endParaRPr lang="en-US" sz="1700" dirty="0"/>
          </a:p>
        </p:txBody>
      </p:sp>
      <p:sp>
        <p:nvSpPr>
          <p:cNvPr id="6" name="Text 3"/>
          <p:cNvSpPr txBox="1"/>
          <p:nvPr/>
        </p:nvSpPr>
        <p:spPr>
          <a:xfrm>
            <a:off x="6812280" y="5120640"/>
            <a:ext cx="4663440" cy="274320"/>
          </a:xfrm>
          <a:prstGeom prst="rect">
            <a:avLst/>
          </a:prstGeom>
          <a:noFill/>
          <a:ln/>
        </p:spPr>
        <p:txBody>
          <a:bodyPr wrap="square" lIns="0" tIns="0" rIns="0" bIns="0" rtlCol="0" anchor="t"/>
          <a:lstStyle/>
          <a:p>
            <a:pPr indent="0" marL="0">
              <a:lnSpc>
                <a:spcPct val="112000"/>
              </a:lnSpc>
              <a:buNone/>
            </a:pPr>
            <a:r>
              <a:rPr lang="en-US" sz="1100" dirty="0">
                <a:solidFill>
                  <a:srgbClr val="5E6D68"/>
                </a:solidFill>
                <a:latin typeface="Calibri" pitchFamily="34" charset="0"/>
                <a:ea typeface="Calibri" pitchFamily="34" charset="-122"/>
                <a:cs typeface="Calibri" pitchFamily="34" charset="-120"/>
              </a:rPr>
              <a:t>Capture: local demo mode, same engine</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RESULTS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SMART DISPATCH: EQUAL OUTPUT, FEWER TRUCK-HOURS</a:t>
            </a:r>
            <a:endParaRPr lang="en-US" sz="3000" dirty="0"/>
          </a:p>
        </p:txBody>
      </p:sp>
      <p:sp>
        <p:nvSpPr>
          <p:cNvPr id="4" name="Shape 2"/>
          <p:cNvSpPr/>
          <p:nvPr/>
        </p:nvSpPr>
        <p:spPr>
          <a:xfrm>
            <a:off x="685800" y="1828800"/>
            <a:ext cx="2499284" cy="1828800"/>
          </a:xfrm>
          <a:prstGeom prst="roundRect">
            <a:avLst>
              <a:gd name="adj" fmla="val 4000"/>
            </a:avLst>
          </a:prstGeom>
          <a:solidFill>
            <a:srgbClr val="FBF9F4"/>
          </a:solidFill>
          <a:ln w="9525">
            <a:solidFill>
              <a:srgbClr val="D9D2C3"/>
            </a:solidFill>
            <a:prstDash val="solid"/>
          </a:ln>
        </p:spPr>
      </p:sp>
      <p:sp>
        <p:nvSpPr>
          <p:cNvPr id="5" name="Text 3"/>
          <p:cNvSpPr txBox="1"/>
          <p:nvPr/>
        </p:nvSpPr>
        <p:spPr>
          <a:xfrm>
            <a:off x="914400" y="2011680"/>
            <a:ext cx="2042084" cy="868680"/>
          </a:xfrm>
          <a:prstGeom prst="rect">
            <a:avLst/>
          </a:prstGeom>
          <a:noFill/>
          <a:ln/>
        </p:spPr>
        <p:txBody>
          <a:bodyPr wrap="square" lIns="0" tIns="0" rIns="0" bIns="0" rtlCol="0" anchor="t"/>
          <a:lstStyle/>
          <a:p>
            <a:pPr indent="0" marL="0">
              <a:lnSpc>
                <a:spcPct val="112000"/>
              </a:lnSpc>
              <a:buNone/>
            </a:pPr>
            <a:r>
              <a:rPr lang="en-US" sz="4800" b="1" dirty="0">
                <a:solidFill>
                  <a:srgbClr val="14201C"/>
                </a:solidFill>
                <a:latin typeface="Calibri" pitchFamily="34" charset="0"/>
                <a:ea typeface="Calibri" pitchFamily="34" charset="-122"/>
                <a:cs typeface="Calibri" pitchFamily="34" charset="-120"/>
              </a:rPr>
              <a:t>6 → 4</a:t>
            </a:r>
            <a:endParaRPr lang="en-US" sz="4800" dirty="0"/>
          </a:p>
        </p:txBody>
      </p:sp>
      <p:sp>
        <p:nvSpPr>
          <p:cNvPr id="6" name="Text 4"/>
          <p:cNvSpPr txBox="1"/>
          <p:nvPr/>
        </p:nvSpPr>
        <p:spPr>
          <a:xfrm>
            <a:off x="914400" y="2926080"/>
            <a:ext cx="2042084" cy="64008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trucks cycling; two park as ready reserves</a:t>
            </a:r>
            <a:endParaRPr lang="en-US" sz="1400" dirty="0"/>
          </a:p>
        </p:txBody>
      </p:sp>
      <p:sp>
        <p:nvSpPr>
          <p:cNvPr id="7" name="Shape 5"/>
          <p:cNvSpPr/>
          <p:nvPr/>
        </p:nvSpPr>
        <p:spPr>
          <a:xfrm>
            <a:off x="3459404" y="1828800"/>
            <a:ext cx="2499284" cy="1828800"/>
          </a:xfrm>
          <a:prstGeom prst="roundRect">
            <a:avLst>
              <a:gd name="adj" fmla="val 4000"/>
            </a:avLst>
          </a:prstGeom>
          <a:solidFill>
            <a:srgbClr val="FBF9F4"/>
          </a:solidFill>
          <a:ln w="9525">
            <a:solidFill>
              <a:srgbClr val="D9D2C3"/>
            </a:solidFill>
            <a:prstDash val="solid"/>
          </a:ln>
        </p:spPr>
      </p:sp>
      <p:sp>
        <p:nvSpPr>
          <p:cNvPr id="8" name="Text 6"/>
          <p:cNvSpPr txBox="1"/>
          <p:nvPr/>
        </p:nvSpPr>
        <p:spPr>
          <a:xfrm>
            <a:off x="3688004" y="2011680"/>
            <a:ext cx="2042084" cy="868680"/>
          </a:xfrm>
          <a:prstGeom prst="rect">
            <a:avLst/>
          </a:prstGeom>
          <a:noFill/>
          <a:ln/>
        </p:spPr>
        <p:txBody>
          <a:bodyPr wrap="square" lIns="0" tIns="0" rIns="0" bIns="0" rtlCol="0" anchor="t"/>
          <a:lstStyle/>
          <a:p>
            <a:pPr indent="0" marL="0">
              <a:lnSpc>
                <a:spcPct val="112000"/>
              </a:lnSpc>
              <a:buNone/>
            </a:pPr>
            <a:r>
              <a:rPr lang="en-US" sz="4800" b="1" dirty="0">
                <a:solidFill>
                  <a:srgbClr val="14201C"/>
                </a:solidFill>
                <a:latin typeface="Calibri" pitchFamily="34" charset="0"/>
                <a:ea typeface="Calibri" pitchFamily="34" charset="-122"/>
                <a:cs typeface="Calibri" pitchFamily="34" charset="-120"/>
              </a:rPr>
              <a:t>770</a:t>
            </a:r>
            <a:endParaRPr lang="en-US" sz="4800" dirty="0"/>
          </a:p>
        </p:txBody>
      </p:sp>
      <p:sp>
        <p:nvSpPr>
          <p:cNvPr id="9" name="Text 7"/>
          <p:cNvSpPr txBox="1"/>
          <p:nvPr/>
        </p:nvSpPr>
        <p:spPr>
          <a:xfrm>
            <a:off x="3688004" y="2926080"/>
            <a:ext cx="2042084" cy="64008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t/h with either policy</a:t>
            </a:r>
            <a:endParaRPr lang="en-US" sz="1400" dirty="0"/>
          </a:p>
        </p:txBody>
      </p:sp>
      <p:sp>
        <p:nvSpPr>
          <p:cNvPr id="10" name="Shape 8"/>
          <p:cNvSpPr/>
          <p:nvPr/>
        </p:nvSpPr>
        <p:spPr>
          <a:xfrm>
            <a:off x="6233008" y="1828800"/>
            <a:ext cx="2499284" cy="1828800"/>
          </a:xfrm>
          <a:prstGeom prst="roundRect">
            <a:avLst>
              <a:gd name="adj" fmla="val 4000"/>
            </a:avLst>
          </a:prstGeom>
          <a:solidFill>
            <a:srgbClr val="FBF9F4"/>
          </a:solidFill>
          <a:ln w="9525">
            <a:solidFill>
              <a:srgbClr val="D9D2C3"/>
            </a:solidFill>
            <a:prstDash val="solid"/>
          </a:ln>
        </p:spPr>
      </p:sp>
      <p:sp>
        <p:nvSpPr>
          <p:cNvPr id="11" name="Text 9"/>
          <p:cNvSpPr txBox="1"/>
          <p:nvPr/>
        </p:nvSpPr>
        <p:spPr>
          <a:xfrm>
            <a:off x="6461608" y="2011680"/>
            <a:ext cx="2042084" cy="868680"/>
          </a:xfrm>
          <a:prstGeom prst="rect">
            <a:avLst/>
          </a:prstGeom>
          <a:noFill/>
          <a:ln/>
        </p:spPr>
        <p:txBody>
          <a:bodyPr wrap="square" lIns="0" tIns="0" rIns="0" bIns="0" rtlCol="0" anchor="t"/>
          <a:lstStyle/>
          <a:p>
            <a:pPr indent="0" marL="0">
              <a:lnSpc>
                <a:spcPct val="112000"/>
              </a:lnSpc>
              <a:buNone/>
            </a:pPr>
            <a:r>
              <a:rPr lang="en-US" sz="4800" b="1" dirty="0">
                <a:solidFill>
                  <a:srgbClr val="0F7D72"/>
                </a:solidFill>
                <a:latin typeface="Calibri" pitchFamily="34" charset="0"/>
                <a:ea typeface="Calibri" pitchFamily="34" charset="-122"/>
                <a:cs typeface="Calibri" pitchFamily="34" charset="-120"/>
              </a:rPr>
              <a:t>−33 %</a:t>
            </a:r>
            <a:endParaRPr lang="en-US" sz="4800" dirty="0"/>
          </a:p>
        </p:txBody>
      </p:sp>
      <p:sp>
        <p:nvSpPr>
          <p:cNvPr id="12" name="Text 10"/>
          <p:cNvSpPr txBox="1"/>
          <p:nvPr/>
        </p:nvSpPr>
        <p:spPr>
          <a:xfrm>
            <a:off x="6461608" y="2926080"/>
            <a:ext cx="2042084" cy="64008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truck-hours per 1,000 t (7.79 → 5.19)</a:t>
            </a:r>
            <a:endParaRPr lang="en-US" sz="1400" dirty="0"/>
          </a:p>
        </p:txBody>
      </p:sp>
      <p:sp>
        <p:nvSpPr>
          <p:cNvPr id="13" name="Shape 11"/>
          <p:cNvSpPr/>
          <p:nvPr/>
        </p:nvSpPr>
        <p:spPr>
          <a:xfrm>
            <a:off x="9006611" y="1828800"/>
            <a:ext cx="2499284" cy="1828800"/>
          </a:xfrm>
          <a:prstGeom prst="roundRect">
            <a:avLst>
              <a:gd name="adj" fmla="val 4000"/>
            </a:avLst>
          </a:prstGeom>
          <a:solidFill>
            <a:srgbClr val="FBF9F4"/>
          </a:solidFill>
          <a:ln w="9525">
            <a:solidFill>
              <a:srgbClr val="D9D2C3"/>
            </a:solidFill>
            <a:prstDash val="solid"/>
          </a:ln>
        </p:spPr>
      </p:sp>
      <p:sp>
        <p:nvSpPr>
          <p:cNvPr id="14" name="Text 12"/>
          <p:cNvSpPr txBox="1"/>
          <p:nvPr/>
        </p:nvSpPr>
        <p:spPr>
          <a:xfrm>
            <a:off x="9235211" y="2011680"/>
            <a:ext cx="2042084" cy="868680"/>
          </a:xfrm>
          <a:prstGeom prst="rect">
            <a:avLst/>
          </a:prstGeom>
          <a:noFill/>
          <a:ln/>
        </p:spPr>
        <p:txBody>
          <a:bodyPr wrap="square" lIns="0" tIns="0" rIns="0" bIns="0" rtlCol="0" anchor="t"/>
          <a:lstStyle/>
          <a:p>
            <a:pPr indent="0" marL="0">
              <a:lnSpc>
                <a:spcPct val="112000"/>
              </a:lnSpc>
              <a:buNone/>
            </a:pPr>
            <a:r>
              <a:rPr lang="en-US" sz="4800" b="1" dirty="0">
                <a:solidFill>
                  <a:srgbClr val="14201C"/>
                </a:solidFill>
                <a:latin typeface="Calibri" pitchFamily="34" charset="0"/>
                <a:ea typeface="Calibri" pitchFamily="34" charset="-122"/>
                <a:cs typeface="Calibri" pitchFamily="34" charset="-120"/>
              </a:rPr>
              <a:t>1.6</a:t>
            </a:r>
            <a:endParaRPr lang="en-US" sz="4800" dirty="0"/>
          </a:p>
        </p:txBody>
      </p:sp>
      <p:sp>
        <p:nvSpPr>
          <p:cNvPr id="15" name="Text 13"/>
          <p:cNvSpPr txBox="1"/>
          <p:nvPr/>
        </p:nvSpPr>
        <p:spPr>
          <a:xfrm>
            <a:off x="9235211" y="2926080"/>
            <a:ext cx="2042084" cy="64008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min wait at the face, down from 13.6</a:t>
            </a:r>
            <a:endParaRPr lang="en-US" sz="1400" dirty="0"/>
          </a:p>
        </p:txBody>
      </p:sp>
      <p:sp>
        <p:nvSpPr>
          <p:cNvPr id="16" name="Text 14"/>
          <p:cNvSpPr txBox="1"/>
          <p:nvPr/>
        </p:nvSpPr>
        <p:spPr>
          <a:xfrm>
            <a:off x="685800" y="3977640"/>
            <a:ext cx="10820095" cy="2743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Truck-hours per 1,000 t, Smart versus fixed, by condition:</a:t>
            </a:r>
            <a:endParaRPr lang="en-US" sz="1400" dirty="0"/>
          </a:p>
        </p:txBody>
      </p:sp>
      <p:sp>
        <p:nvSpPr>
          <p:cNvPr id="17" name="Shape 15"/>
          <p:cNvSpPr/>
          <p:nvPr/>
        </p:nvSpPr>
        <p:spPr>
          <a:xfrm>
            <a:off x="685800" y="4389120"/>
            <a:ext cx="2499284" cy="548640"/>
          </a:xfrm>
          <a:prstGeom prst="roundRect">
            <a:avLst>
              <a:gd name="adj" fmla="val 50000"/>
            </a:avLst>
          </a:prstGeom>
          <a:solidFill>
            <a:srgbClr val="FBF9F4"/>
          </a:solidFill>
          <a:ln w="9525">
            <a:solidFill>
              <a:srgbClr val="D9D2C3"/>
            </a:solidFill>
            <a:prstDash val="solid"/>
          </a:ln>
        </p:spPr>
      </p:sp>
      <p:sp>
        <p:nvSpPr>
          <p:cNvPr id="18" name="Text 16"/>
          <p:cNvSpPr txBox="1"/>
          <p:nvPr/>
        </p:nvSpPr>
        <p:spPr>
          <a:xfrm>
            <a:off x="960120" y="4498848"/>
            <a:ext cx="1950644" cy="329184"/>
          </a:xfrm>
          <a:prstGeom prst="rect">
            <a:avLst/>
          </a:prstGeom>
          <a:noFill/>
          <a:ln/>
        </p:spPr>
        <p:txBody>
          <a:bodyPr wrap="square" lIns="0" tIns="0" rIns="0" bIns="0" rtlCol="0" anchor="ctr"/>
          <a:lstStyle/>
          <a:p>
            <a:pPr indent="0" marL="0">
              <a:lnSpc>
                <a:spcPct val="112000"/>
              </a:lnSpc>
              <a:buNone/>
            </a:pPr>
            <a:r>
              <a:rPr lang="en-US" sz="1600" dirty="0">
                <a:solidFill>
                  <a:srgbClr val="3F4E49"/>
                </a:solidFill>
                <a:latin typeface="Calibri" pitchFamily="34" charset="0"/>
                <a:ea typeface="Calibri" pitchFamily="34" charset="-122"/>
                <a:cs typeface="Calibri" pitchFamily="34" charset="-120"/>
              </a:rPr>
              <a:t>Normal  </a:t>
            </a:r>
            <a:pPr indent="0" marL="0">
              <a:lnSpc>
                <a:spcPct val="112000"/>
              </a:lnSpc>
              <a:buNone/>
            </a:pPr>
            <a:r>
              <a:rPr lang="en-US" sz="1600" b="1" dirty="0">
                <a:solidFill>
                  <a:srgbClr val="14201C"/>
                </a:solidFill>
                <a:latin typeface="Calibri" pitchFamily="34" charset="0"/>
                <a:ea typeface="Calibri" pitchFamily="34" charset="-122"/>
                <a:cs typeface="Calibri" pitchFamily="34" charset="-120"/>
              </a:rPr>
              <a:t>−33 %</a:t>
            </a:r>
            <a:endParaRPr lang="en-US" sz="1600" dirty="0"/>
          </a:p>
        </p:txBody>
      </p:sp>
      <p:sp>
        <p:nvSpPr>
          <p:cNvPr id="19" name="Shape 17"/>
          <p:cNvSpPr/>
          <p:nvPr/>
        </p:nvSpPr>
        <p:spPr>
          <a:xfrm>
            <a:off x="3459404" y="4389120"/>
            <a:ext cx="2499284" cy="548640"/>
          </a:xfrm>
          <a:prstGeom prst="roundRect">
            <a:avLst>
              <a:gd name="adj" fmla="val 50000"/>
            </a:avLst>
          </a:prstGeom>
          <a:solidFill>
            <a:srgbClr val="FBF9F4"/>
          </a:solidFill>
          <a:ln w="9525">
            <a:solidFill>
              <a:srgbClr val="D9D2C3"/>
            </a:solidFill>
            <a:prstDash val="solid"/>
          </a:ln>
        </p:spPr>
      </p:sp>
      <p:sp>
        <p:nvSpPr>
          <p:cNvPr id="20" name="Text 18"/>
          <p:cNvSpPr txBox="1"/>
          <p:nvPr/>
        </p:nvSpPr>
        <p:spPr>
          <a:xfrm>
            <a:off x="3733724" y="4498848"/>
            <a:ext cx="1950644" cy="329184"/>
          </a:xfrm>
          <a:prstGeom prst="rect">
            <a:avLst/>
          </a:prstGeom>
          <a:noFill/>
          <a:ln/>
        </p:spPr>
        <p:txBody>
          <a:bodyPr wrap="square" lIns="0" tIns="0" rIns="0" bIns="0" rtlCol="0" anchor="ctr"/>
          <a:lstStyle/>
          <a:p>
            <a:pPr indent="0" marL="0">
              <a:lnSpc>
                <a:spcPct val="112000"/>
              </a:lnSpc>
              <a:buNone/>
            </a:pPr>
            <a:r>
              <a:rPr lang="en-US" sz="1600" dirty="0">
                <a:solidFill>
                  <a:srgbClr val="3F4E49"/>
                </a:solidFill>
                <a:latin typeface="Calibri" pitchFamily="34" charset="0"/>
                <a:ea typeface="Calibri" pitchFamily="34" charset="-122"/>
                <a:cs typeface="Calibri" pitchFamily="34" charset="-120"/>
              </a:rPr>
              <a:t>Breakdown  </a:t>
            </a:r>
            <a:pPr indent="0" marL="0">
              <a:lnSpc>
                <a:spcPct val="112000"/>
              </a:lnSpc>
              <a:buNone/>
            </a:pPr>
            <a:r>
              <a:rPr lang="en-US" sz="1600" b="1" dirty="0">
                <a:solidFill>
                  <a:srgbClr val="14201C"/>
                </a:solidFill>
                <a:latin typeface="Calibri" pitchFamily="34" charset="0"/>
                <a:ea typeface="Calibri" pitchFamily="34" charset="-122"/>
                <a:cs typeface="Calibri" pitchFamily="34" charset="-120"/>
              </a:rPr>
              <a:t>−20 %</a:t>
            </a:r>
            <a:endParaRPr lang="en-US" sz="1600" dirty="0"/>
          </a:p>
        </p:txBody>
      </p:sp>
      <p:sp>
        <p:nvSpPr>
          <p:cNvPr id="21" name="Shape 19"/>
          <p:cNvSpPr/>
          <p:nvPr/>
        </p:nvSpPr>
        <p:spPr>
          <a:xfrm>
            <a:off x="6233008" y="4389120"/>
            <a:ext cx="2499284" cy="548640"/>
          </a:xfrm>
          <a:prstGeom prst="roundRect">
            <a:avLst>
              <a:gd name="adj" fmla="val 50000"/>
            </a:avLst>
          </a:prstGeom>
          <a:solidFill>
            <a:srgbClr val="FBF9F4"/>
          </a:solidFill>
          <a:ln w="9525">
            <a:solidFill>
              <a:srgbClr val="D9D2C3"/>
            </a:solidFill>
            <a:prstDash val="solid"/>
          </a:ln>
        </p:spPr>
      </p:sp>
      <p:sp>
        <p:nvSpPr>
          <p:cNvPr id="22" name="Text 20"/>
          <p:cNvSpPr txBox="1"/>
          <p:nvPr/>
        </p:nvSpPr>
        <p:spPr>
          <a:xfrm>
            <a:off x="6507328" y="4498848"/>
            <a:ext cx="1950644" cy="329184"/>
          </a:xfrm>
          <a:prstGeom prst="rect">
            <a:avLst/>
          </a:prstGeom>
          <a:noFill/>
          <a:ln/>
        </p:spPr>
        <p:txBody>
          <a:bodyPr wrap="square" lIns="0" tIns="0" rIns="0" bIns="0" rtlCol="0" anchor="ctr"/>
          <a:lstStyle/>
          <a:p>
            <a:pPr indent="0" marL="0">
              <a:lnSpc>
                <a:spcPct val="112000"/>
              </a:lnSpc>
              <a:buNone/>
            </a:pPr>
            <a:r>
              <a:rPr lang="en-US" sz="1600" dirty="0">
                <a:solidFill>
                  <a:srgbClr val="3F4E49"/>
                </a:solidFill>
                <a:latin typeface="Calibri" pitchFamily="34" charset="0"/>
                <a:ea typeface="Calibri" pitchFamily="34" charset="-122"/>
                <a:cs typeface="Calibri" pitchFamily="34" charset="-120"/>
              </a:rPr>
              <a:t>Road restricted  </a:t>
            </a:r>
            <a:pPr indent="0" marL="0">
              <a:lnSpc>
                <a:spcPct val="112000"/>
              </a:lnSpc>
              <a:buNone/>
            </a:pPr>
            <a:r>
              <a:rPr lang="en-US" sz="1600" b="1" dirty="0">
                <a:solidFill>
                  <a:srgbClr val="14201C"/>
                </a:solidFill>
                <a:latin typeface="Calibri" pitchFamily="34" charset="0"/>
                <a:ea typeface="Calibri" pitchFamily="34" charset="-122"/>
                <a:cs typeface="Calibri" pitchFamily="34" charset="-120"/>
              </a:rPr>
              <a:t>0 %</a:t>
            </a:r>
            <a:endParaRPr lang="en-US" sz="1600" dirty="0"/>
          </a:p>
        </p:txBody>
      </p:sp>
      <p:sp>
        <p:nvSpPr>
          <p:cNvPr id="23" name="Shape 21"/>
          <p:cNvSpPr/>
          <p:nvPr/>
        </p:nvSpPr>
        <p:spPr>
          <a:xfrm>
            <a:off x="9006611" y="4389120"/>
            <a:ext cx="2499284" cy="548640"/>
          </a:xfrm>
          <a:prstGeom prst="roundRect">
            <a:avLst>
              <a:gd name="adj" fmla="val 50000"/>
            </a:avLst>
          </a:prstGeom>
          <a:solidFill>
            <a:srgbClr val="FBF9F4"/>
          </a:solidFill>
          <a:ln w="9525">
            <a:solidFill>
              <a:srgbClr val="D9D2C3"/>
            </a:solidFill>
            <a:prstDash val="solid"/>
          </a:ln>
        </p:spPr>
      </p:sp>
      <p:sp>
        <p:nvSpPr>
          <p:cNvPr id="24" name="Text 22"/>
          <p:cNvSpPr txBox="1"/>
          <p:nvPr/>
        </p:nvSpPr>
        <p:spPr>
          <a:xfrm>
            <a:off x="9280931" y="4498848"/>
            <a:ext cx="1950644" cy="329184"/>
          </a:xfrm>
          <a:prstGeom prst="rect">
            <a:avLst/>
          </a:prstGeom>
          <a:noFill/>
          <a:ln/>
        </p:spPr>
        <p:txBody>
          <a:bodyPr wrap="square" lIns="0" tIns="0" rIns="0" bIns="0" rtlCol="0" anchor="ctr"/>
          <a:lstStyle/>
          <a:p>
            <a:pPr indent="0" marL="0">
              <a:lnSpc>
                <a:spcPct val="112000"/>
              </a:lnSpc>
              <a:buNone/>
            </a:pPr>
            <a:r>
              <a:rPr lang="en-US" sz="1600" dirty="0">
                <a:solidFill>
                  <a:srgbClr val="3F4E49"/>
                </a:solidFill>
                <a:latin typeface="Calibri" pitchFamily="34" charset="0"/>
                <a:ea typeface="Calibri" pitchFamily="34" charset="-122"/>
                <a:cs typeface="Calibri" pitchFamily="34" charset="-120"/>
              </a:rPr>
              <a:t>Crusher slow  </a:t>
            </a:r>
            <a:pPr indent="0" marL="0">
              <a:lnSpc>
                <a:spcPct val="112000"/>
              </a:lnSpc>
              <a:buNone/>
            </a:pPr>
            <a:r>
              <a:rPr lang="en-US" sz="1600" b="1" dirty="0">
                <a:solidFill>
                  <a:srgbClr val="14201C"/>
                </a:solidFill>
                <a:latin typeface="Calibri" pitchFamily="34" charset="0"/>
                <a:ea typeface="Calibri" pitchFamily="34" charset="-122"/>
                <a:cs typeface="Calibri" pitchFamily="34" charset="-120"/>
              </a:rPr>
              <a:t>−50 %</a:t>
            </a:r>
            <a:endParaRPr lang="en-US" sz="1600" dirty="0"/>
          </a:p>
        </p:txBody>
      </p:sp>
      <p:sp>
        <p:nvSpPr>
          <p:cNvPr id="25" name="Text 23"/>
          <p:cNvSpPr txBox="1"/>
          <p:nvPr/>
        </p:nvSpPr>
        <p:spPr>
          <a:xfrm>
            <a:off x="685800" y="5349240"/>
            <a:ext cx="10820095" cy="457200"/>
          </a:xfrm>
          <a:prstGeom prst="rect">
            <a:avLst/>
          </a:prstGeom>
          <a:noFill/>
          <a:ln/>
        </p:spPr>
        <p:txBody>
          <a:bodyPr wrap="square" lIns="0" tIns="0" rIns="0" bIns="0" rtlCol="0" anchor="t"/>
          <a:lstStyle/>
          <a:p>
            <a:pPr indent="0" marL="0">
              <a:lnSpc>
                <a:spcPct val="112000"/>
              </a:lnSpc>
              <a:buNone/>
            </a:pPr>
            <a:r>
              <a:rPr lang="en-US" sz="1200" dirty="0">
                <a:solidFill>
                  <a:srgbClr val="5E6D68"/>
                </a:solidFill>
                <a:latin typeface="Calibri" pitchFamily="34" charset="0"/>
                <a:ea typeface="Calibri" pitchFamily="34" charset="-122"/>
                <a:cs typeface="Calibri" pitchFamily="34" charset="-120"/>
              </a:rPr>
              <a:t>Matched 8-hour windows from one identical start. Estimated diesel per 1,000 t falls 26 % in Normal. Model estimates, not measured savings.</a:t>
            </a:r>
            <a:endParaRPr lang="en-US" sz="12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RESULTS</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SUMMARY OF VERIFIED RESULTS</a:t>
            </a:r>
            <a:endParaRPr lang="en-US" sz="3000" dirty="0"/>
          </a:p>
        </p:txBody>
      </p:sp>
      <p:sp>
        <p:nvSpPr>
          <p:cNvPr id="4" name="Shape 2"/>
          <p:cNvSpPr/>
          <p:nvPr/>
        </p:nvSpPr>
        <p:spPr>
          <a:xfrm>
            <a:off x="685800" y="1737360"/>
            <a:ext cx="3423818" cy="1691640"/>
          </a:xfrm>
          <a:prstGeom prst="roundRect">
            <a:avLst>
              <a:gd name="adj" fmla="val 4324"/>
            </a:avLst>
          </a:prstGeom>
          <a:solidFill>
            <a:srgbClr val="FBF9F4"/>
          </a:solidFill>
          <a:ln w="9525">
            <a:solidFill>
              <a:srgbClr val="D9D2C3"/>
            </a:solidFill>
            <a:prstDash val="solid"/>
          </a:ln>
        </p:spPr>
      </p:sp>
      <p:sp>
        <p:nvSpPr>
          <p:cNvPr id="5" name="Text 3"/>
          <p:cNvSpPr txBox="1"/>
          <p:nvPr/>
        </p:nvSpPr>
        <p:spPr>
          <a:xfrm>
            <a:off x="960120" y="1920240"/>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14201C"/>
                </a:solidFill>
                <a:latin typeface="Calibri" pitchFamily="34" charset="0"/>
                <a:ea typeface="Calibri" pitchFamily="34" charset="-122"/>
                <a:cs typeface="Calibri" pitchFamily="34" charset="-120"/>
              </a:rPr>
              <a:t>143</a:t>
            </a:r>
            <a:endParaRPr lang="en-US" sz="3600" dirty="0"/>
          </a:p>
        </p:txBody>
      </p:sp>
      <p:sp>
        <p:nvSpPr>
          <p:cNvPr id="6" name="Text 4"/>
          <p:cNvSpPr txBox="1"/>
          <p:nvPr/>
        </p:nvSpPr>
        <p:spPr>
          <a:xfrm>
            <a:off x="960120" y="2606040"/>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required fields with units across 11 Eclipse Ditto twins, all returned live</a:t>
            </a:r>
            <a:endParaRPr lang="en-US" sz="1400" dirty="0"/>
          </a:p>
        </p:txBody>
      </p:sp>
      <p:sp>
        <p:nvSpPr>
          <p:cNvPr id="7" name="Shape 5"/>
          <p:cNvSpPr/>
          <p:nvPr/>
        </p:nvSpPr>
        <p:spPr>
          <a:xfrm>
            <a:off x="4383938" y="1737360"/>
            <a:ext cx="3423818" cy="1691640"/>
          </a:xfrm>
          <a:prstGeom prst="roundRect">
            <a:avLst>
              <a:gd name="adj" fmla="val 4324"/>
            </a:avLst>
          </a:prstGeom>
          <a:solidFill>
            <a:srgbClr val="FBF9F4"/>
          </a:solidFill>
          <a:ln w="9525">
            <a:solidFill>
              <a:srgbClr val="D9D2C3"/>
            </a:solidFill>
            <a:prstDash val="solid"/>
          </a:ln>
        </p:spPr>
      </p:sp>
      <p:sp>
        <p:nvSpPr>
          <p:cNvPr id="8" name="Text 6"/>
          <p:cNvSpPr txBox="1"/>
          <p:nvPr/>
        </p:nvSpPr>
        <p:spPr>
          <a:xfrm>
            <a:off x="4658258" y="1920240"/>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14201C"/>
                </a:solidFill>
                <a:latin typeface="Calibri" pitchFamily="34" charset="0"/>
                <a:ea typeface="Calibri" pitchFamily="34" charset="-122"/>
                <a:cs typeface="Calibri" pitchFamily="34" charset="-120"/>
              </a:rPr>
              <a:t>8 of 8</a:t>
            </a:r>
            <a:endParaRPr lang="en-US" sz="3600" dirty="0"/>
          </a:p>
        </p:txBody>
      </p:sp>
      <p:sp>
        <p:nvSpPr>
          <p:cNvPr id="9" name="Text 7"/>
          <p:cNvSpPr txBox="1"/>
          <p:nvPr/>
        </p:nvSpPr>
        <p:spPr>
          <a:xfrm>
            <a:off x="4658258" y="2606040"/>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fixed and Smart runs across all four conditions pass live, then reset cleanly</a:t>
            </a:r>
            <a:endParaRPr lang="en-US" sz="1400" dirty="0"/>
          </a:p>
        </p:txBody>
      </p:sp>
      <p:sp>
        <p:nvSpPr>
          <p:cNvPr id="10" name="Shape 8"/>
          <p:cNvSpPr/>
          <p:nvPr/>
        </p:nvSpPr>
        <p:spPr>
          <a:xfrm>
            <a:off x="8082077" y="1737360"/>
            <a:ext cx="3423818" cy="1691640"/>
          </a:xfrm>
          <a:prstGeom prst="roundRect">
            <a:avLst>
              <a:gd name="adj" fmla="val 4324"/>
            </a:avLst>
          </a:prstGeom>
          <a:solidFill>
            <a:srgbClr val="FBF9F4"/>
          </a:solidFill>
          <a:ln w="9525">
            <a:solidFill>
              <a:srgbClr val="D9D2C3"/>
            </a:solidFill>
            <a:prstDash val="solid"/>
          </a:ln>
        </p:spPr>
      </p:sp>
      <p:sp>
        <p:nvSpPr>
          <p:cNvPr id="11" name="Text 9"/>
          <p:cNvSpPr txBox="1"/>
          <p:nvPr/>
        </p:nvSpPr>
        <p:spPr>
          <a:xfrm>
            <a:off x="8356397" y="1920240"/>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14201C"/>
                </a:solidFill>
                <a:latin typeface="Calibri" pitchFamily="34" charset="0"/>
                <a:ea typeface="Calibri" pitchFamily="34" charset="-122"/>
                <a:cs typeface="Calibri" pitchFamily="34" charset="-120"/>
              </a:rPr>
              <a:t>0 t</a:t>
            </a:r>
            <a:endParaRPr lang="en-US" sz="3600" dirty="0"/>
          </a:p>
        </p:txBody>
      </p:sp>
      <p:sp>
        <p:nvSpPr>
          <p:cNvPr id="12" name="Text 10"/>
          <p:cNvSpPr txBox="1"/>
          <p:nvPr/>
        </p:nvSpPr>
        <p:spPr>
          <a:xfrm>
            <a:off x="8356397" y="2606040"/>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ore mass-balance error in every scenario: no tonne created or lost</a:t>
            </a:r>
            <a:endParaRPr lang="en-US" sz="1400" dirty="0"/>
          </a:p>
        </p:txBody>
      </p:sp>
      <p:sp>
        <p:nvSpPr>
          <p:cNvPr id="13" name="Shape 11"/>
          <p:cNvSpPr/>
          <p:nvPr/>
        </p:nvSpPr>
        <p:spPr>
          <a:xfrm>
            <a:off x="685800" y="3685032"/>
            <a:ext cx="3423818" cy="1691640"/>
          </a:xfrm>
          <a:prstGeom prst="roundRect">
            <a:avLst>
              <a:gd name="adj" fmla="val 4324"/>
            </a:avLst>
          </a:prstGeom>
          <a:solidFill>
            <a:srgbClr val="FBF9F4"/>
          </a:solidFill>
          <a:ln w="9525">
            <a:solidFill>
              <a:srgbClr val="D9D2C3"/>
            </a:solidFill>
            <a:prstDash val="solid"/>
          </a:ln>
        </p:spPr>
      </p:sp>
      <p:sp>
        <p:nvSpPr>
          <p:cNvPr id="14" name="Text 12"/>
          <p:cNvSpPr txBox="1"/>
          <p:nvPr/>
        </p:nvSpPr>
        <p:spPr>
          <a:xfrm>
            <a:off x="960120" y="3867912"/>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0F7D72"/>
                </a:solidFill>
                <a:latin typeface="Calibri" pitchFamily="34" charset="0"/>
                <a:ea typeface="Calibri" pitchFamily="34" charset="-122"/>
                <a:cs typeface="Calibri" pitchFamily="34" charset="-120"/>
              </a:rPr>
              <a:t>−33 %</a:t>
            </a:r>
            <a:endParaRPr lang="en-US" sz="3600" dirty="0"/>
          </a:p>
        </p:txBody>
      </p:sp>
      <p:sp>
        <p:nvSpPr>
          <p:cNvPr id="15" name="Text 13"/>
          <p:cNvSpPr txBox="1"/>
          <p:nvPr/>
        </p:nvSpPr>
        <p:spPr>
          <a:xfrm>
            <a:off x="960120" y="4553712"/>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truck-hours per 1,000 t at the same 770 t/h; −50 % under crusher slowdown</a:t>
            </a:r>
            <a:endParaRPr lang="en-US" sz="1400" dirty="0"/>
          </a:p>
        </p:txBody>
      </p:sp>
      <p:sp>
        <p:nvSpPr>
          <p:cNvPr id="16" name="Shape 14"/>
          <p:cNvSpPr/>
          <p:nvPr/>
        </p:nvSpPr>
        <p:spPr>
          <a:xfrm>
            <a:off x="4383938" y="3685032"/>
            <a:ext cx="3423818" cy="1691640"/>
          </a:xfrm>
          <a:prstGeom prst="roundRect">
            <a:avLst>
              <a:gd name="adj" fmla="val 4324"/>
            </a:avLst>
          </a:prstGeom>
          <a:solidFill>
            <a:srgbClr val="FBF9F4"/>
          </a:solidFill>
          <a:ln w="9525">
            <a:solidFill>
              <a:srgbClr val="D9D2C3"/>
            </a:solidFill>
            <a:prstDash val="solid"/>
          </a:ln>
        </p:spPr>
      </p:sp>
      <p:sp>
        <p:nvSpPr>
          <p:cNvPr id="17" name="Text 15"/>
          <p:cNvSpPr txBox="1"/>
          <p:nvPr/>
        </p:nvSpPr>
        <p:spPr>
          <a:xfrm>
            <a:off x="4658258" y="3867912"/>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0F7D72"/>
                </a:solidFill>
                <a:latin typeface="Calibri" pitchFamily="34" charset="0"/>
                <a:ea typeface="Calibri" pitchFamily="34" charset="-122"/>
                <a:cs typeface="Calibri" pitchFamily="34" charset="-120"/>
              </a:rPr>
              <a:t>−79 t</a:t>
            </a:r>
            <a:endParaRPr lang="en-US" sz="3600" dirty="0"/>
          </a:p>
        </p:txBody>
      </p:sp>
      <p:sp>
        <p:nvSpPr>
          <p:cNvPr id="18" name="Text 16"/>
          <p:cNvSpPr txBox="1"/>
          <p:nvPr/>
        </p:nvSpPr>
        <p:spPr>
          <a:xfrm>
            <a:off x="4658258" y="4553712"/>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total cost of a breakdown over 3 h, then output returns to 770 t/h</a:t>
            </a:r>
            <a:endParaRPr lang="en-US" sz="1400" dirty="0"/>
          </a:p>
        </p:txBody>
      </p:sp>
      <p:sp>
        <p:nvSpPr>
          <p:cNvPr id="19" name="Shape 17"/>
          <p:cNvSpPr/>
          <p:nvPr/>
        </p:nvSpPr>
        <p:spPr>
          <a:xfrm>
            <a:off x="8082077" y="3685032"/>
            <a:ext cx="3423818" cy="1691640"/>
          </a:xfrm>
          <a:prstGeom prst="roundRect">
            <a:avLst>
              <a:gd name="adj" fmla="val 4324"/>
            </a:avLst>
          </a:prstGeom>
          <a:solidFill>
            <a:srgbClr val="FBF9F4"/>
          </a:solidFill>
          <a:ln w="9525">
            <a:solidFill>
              <a:srgbClr val="D9D2C3"/>
            </a:solidFill>
            <a:prstDash val="solid"/>
          </a:ln>
        </p:spPr>
      </p:sp>
      <p:sp>
        <p:nvSpPr>
          <p:cNvPr id="20" name="Text 18"/>
          <p:cNvSpPr txBox="1"/>
          <p:nvPr/>
        </p:nvSpPr>
        <p:spPr>
          <a:xfrm>
            <a:off x="8356397" y="3867912"/>
            <a:ext cx="2875178" cy="640080"/>
          </a:xfrm>
          <a:prstGeom prst="rect">
            <a:avLst/>
          </a:prstGeom>
          <a:noFill/>
          <a:ln/>
        </p:spPr>
        <p:txBody>
          <a:bodyPr wrap="square" lIns="0" tIns="0" rIns="0" bIns="0" rtlCol="0" anchor="t"/>
          <a:lstStyle/>
          <a:p>
            <a:pPr indent="0" marL="0">
              <a:lnSpc>
                <a:spcPct val="112000"/>
              </a:lnSpc>
              <a:buNone/>
            </a:pPr>
            <a:r>
              <a:rPr lang="en-US" sz="3600" b="1" dirty="0">
                <a:solidFill>
                  <a:srgbClr val="14201C"/>
                </a:solidFill>
                <a:latin typeface="Calibri" pitchFamily="34" charset="0"/>
                <a:ea typeface="Calibri" pitchFamily="34" charset="-122"/>
                <a:cs typeface="Calibri" pitchFamily="34" charset="-120"/>
              </a:rPr>
              <a:t>140</a:t>
            </a:r>
            <a:endParaRPr lang="en-US" sz="3600" dirty="0"/>
          </a:p>
        </p:txBody>
      </p:sp>
      <p:sp>
        <p:nvSpPr>
          <p:cNvPr id="21" name="Text 19"/>
          <p:cNvSpPr txBox="1"/>
          <p:nvPr/>
        </p:nvSpPr>
        <p:spPr>
          <a:xfrm>
            <a:off x="8356397" y="4553712"/>
            <a:ext cx="2875178" cy="73152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automated tests: 92 simulator and API, 48 data and evidence</a:t>
            </a:r>
            <a:endParaRPr lang="en-US" sz="1400" dirty="0"/>
          </a:p>
        </p:txBody>
      </p:sp>
      <p:sp>
        <p:nvSpPr>
          <p:cNvPr id="22" name="Text 20"/>
          <p:cNvSpPr txBox="1"/>
          <p:nvPr/>
        </p:nvSpPr>
        <p:spPr>
          <a:xfrm>
            <a:off x="685800" y="5760720"/>
            <a:ext cx="10820095" cy="274320"/>
          </a:xfrm>
          <a:prstGeom prst="rect">
            <a:avLst/>
          </a:prstGeom>
          <a:noFill/>
          <a:ln/>
        </p:spPr>
        <p:txBody>
          <a:bodyPr wrap="square" lIns="0" tIns="0" rIns="0" bIns="0" rtlCol="0" anchor="t"/>
          <a:lstStyle/>
          <a:p>
            <a:pPr indent="0" marL="0">
              <a:lnSpc>
                <a:spcPct val="112000"/>
              </a:lnSpc>
              <a:buNone/>
            </a:pPr>
            <a:r>
              <a:rPr lang="en-US" sz="1200" dirty="0">
                <a:solidFill>
                  <a:srgbClr val="5E6D68"/>
                </a:solidFill>
                <a:latin typeface="Calibri" pitchFamily="34" charset="0"/>
                <a:ea typeface="Calibri" pitchFamily="34" charset="-122"/>
                <a:cs typeface="Calibri" pitchFamily="34" charset="-120"/>
              </a:rPr>
              <a:t>Live checks from integration runs of the combined build; savings and losses are model results, not mine measurements.</a:t>
            </a:r>
            <a:endParaRPr lang="en-US" sz="12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OUTCOME</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SCIENTIFIC AND TECHNICAL NOVELTY</a:t>
            </a:r>
            <a:endParaRPr lang="en-US" sz="3000" dirty="0"/>
          </a:p>
        </p:txBody>
      </p:sp>
      <p:sp>
        <p:nvSpPr>
          <p:cNvPr id="4" name="Shape 2"/>
          <p:cNvSpPr/>
          <p:nvPr/>
        </p:nvSpPr>
        <p:spPr>
          <a:xfrm>
            <a:off x="685800" y="1737360"/>
            <a:ext cx="5250028" cy="1389888"/>
          </a:xfrm>
          <a:prstGeom prst="roundRect">
            <a:avLst>
              <a:gd name="adj" fmla="val 5263"/>
            </a:avLst>
          </a:prstGeom>
          <a:solidFill>
            <a:srgbClr val="FBF9F4"/>
          </a:solidFill>
          <a:ln w="9525">
            <a:solidFill>
              <a:srgbClr val="D9D2C3"/>
            </a:solidFill>
            <a:prstDash val="solid"/>
          </a:ln>
        </p:spPr>
      </p:sp>
      <p:sp>
        <p:nvSpPr>
          <p:cNvPr id="5" name="Text 3"/>
          <p:cNvSpPr txBox="1"/>
          <p:nvPr/>
        </p:nvSpPr>
        <p:spPr>
          <a:xfrm>
            <a:off x="960120" y="1901952"/>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1. Decision-oriented twin</a:t>
            </a:r>
            <a:endParaRPr lang="en-US" sz="1800" dirty="0"/>
          </a:p>
        </p:txBody>
      </p:sp>
      <p:sp>
        <p:nvSpPr>
          <p:cNvPr id="6" name="Text 4"/>
          <p:cNvSpPr txBox="1"/>
          <p:nvPr/>
        </p:nvSpPr>
        <p:spPr>
          <a:xfrm>
            <a:off x="960120" y="2286000"/>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The recommendation comes from versioned evidence, is applied through the real control, and shows “in force” only when the twins confirm it.</a:t>
            </a:r>
            <a:endParaRPr lang="en-US" sz="1400" dirty="0"/>
          </a:p>
        </p:txBody>
      </p:sp>
      <p:sp>
        <p:nvSpPr>
          <p:cNvPr id="7" name="Shape 5"/>
          <p:cNvSpPr/>
          <p:nvPr/>
        </p:nvSpPr>
        <p:spPr>
          <a:xfrm>
            <a:off x="6255868" y="1737360"/>
            <a:ext cx="5250028" cy="1389888"/>
          </a:xfrm>
          <a:prstGeom prst="roundRect">
            <a:avLst>
              <a:gd name="adj" fmla="val 5263"/>
            </a:avLst>
          </a:prstGeom>
          <a:solidFill>
            <a:srgbClr val="FBF9F4"/>
          </a:solidFill>
          <a:ln w="9525">
            <a:solidFill>
              <a:srgbClr val="D9D2C3"/>
            </a:solidFill>
            <a:prstDash val="solid"/>
          </a:ln>
        </p:spPr>
      </p:sp>
      <p:sp>
        <p:nvSpPr>
          <p:cNvPr id="8" name="Text 6"/>
          <p:cNvSpPr txBox="1"/>
          <p:nvPr/>
        </p:nvSpPr>
        <p:spPr>
          <a:xfrm>
            <a:off x="6530188" y="1901952"/>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2. Bottleneck-aware fleet sizing</a:t>
            </a:r>
            <a:endParaRPr lang="en-US" sz="1800" dirty="0"/>
          </a:p>
        </p:txBody>
      </p:sp>
      <p:sp>
        <p:nvSpPr>
          <p:cNvPr id="9" name="Text 7"/>
          <p:cNvSpPr txBox="1"/>
          <p:nvPr/>
        </p:nvSpPr>
        <p:spPr>
          <a:xfrm>
            <a:off x="6530188" y="2286000"/>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Trucks needed = capacity × free cycle ÷ payload, rounded up; surplus trucks park and return when a disruption needs them.</a:t>
            </a:r>
            <a:endParaRPr lang="en-US" sz="1400" dirty="0"/>
          </a:p>
        </p:txBody>
      </p:sp>
      <p:sp>
        <p:nvSpPr>
          <p:cNvPr id="10" name="Shape 8"/>
          <p:cNvSpPr/>
          <p:nvPr/>
        </p:nvSpPr>
        <p:spPr>
          <a:xfrm>
            <a:off x="685800" y="3255264"/>
            <a:ext cx="5250028" cy="1389888"/>
          </a:xfrm>
          <a:prstGeom prst="roundRect">
            <a:avLst>
              <a:gd name="adj" fmla="val 5263"/>
            </a:avLst>
          </a:prstGeom>
          <a:solidFill>
            <a:srgbClr val="FBF9F4"/>
          </a:solidFill>
          <a:ln w="9525">
            <a:solidFill>
              <a:srgbClr val="D9D2C3"/>
            </a:solidFill>
            <a:prstDash val="solid"/>
          </a:ln>
        </p:spPr>
      </p:sp>
      <p:sp>
        <p:nvSpPr>
          <p:cNvPr id="11" name="Text 9"/>
          <p:cNvSpPr txBox="1"/>
          <p:nvPr/>
        </p:nvSpPr>
        <p:spPr>
          <a:xfrm>
            <a:off x="960120" y="3419856"/>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3. Direction-aware breakdown model</a:t>
            </a:r>
            <a:endParaRPr lang="en-US" sz="1800" dirty="0"/>
          </a:p>
        </p:txBody>
      </p:sp>
      <p:sp>
        <p:nvSpPr>
          <p:cNvPr id="12" name="Text 10"/>
          <p:cNvSpPr txBox="1"/>
          <p:nvPr/>
        </p:nvSpPr>
        <p:spPr>
          <a:xfrm>
            <a:off x="960120" y="3803904"/>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A failed truck blocks only its own lane; opposing traffic keeps moving, and the 3D view marks the exact lane from twin fields.</a:t>
            </a:r>
            <a:endParaRPr lang="en-US" sz="1400" dirty="0"/>
          </a:p>
        </p:txBody>
      </p:sp>
      <p:sp>
        <p:nvSpPr>
          <p:cNvPr id="13" name="Shape 11"/>
          <p:cNvSpPr/>
          <p:nvPr/>
        </p:nvSpPr>
        <p:spPr>
          <a:xfrm>
            <a:off x="6255868" y="3255264"/>
            <a:ext cx="5250028" cy="1389888"/>
          </a:xfrm>
          <a:prstGeom prst="roundRect">
            <a:avLst>
              <a:gd name="adj" fmla="val 5263"/>
            </a:avLst>
          </a:prstGeom>
          <a:solidFill>
            <a:srgbClr val="FBF9F4"/>
          </a:solidFill>
          <a:ln w="9525">
            <a:solidFill>
              <a:srgbClr val="D9D2C3"/>
            </a:solidFill>
            <a:prstDash val="solid"/>
          </a:ln>
        </p:spPr>
      </p:sp>
      <p:sp>
        <p:nvSpPr>
          <p:cNvPr id="14" name="Text 12"/>
          <p:cNvSpPr txBox="1"/>
          <p:nvPr/>
        </p:nvSpPr>
        <p:spPr>
          <a:xfrm>
            <a:off x="6530188" y="3419856"/>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4. Matched-start comparative evidence</a:t>
            </a:r>
            <a:endParaRPr lang="en-US" sz="1800" dirty="0"/>
          </a:p>
        </p:txBody>
      </p:sp>
      <p:sp>
        <p:nvSpPr>
          <p:cNvPr id="15" name="Text 13"/>
          <p:cNvSpPr txBox="1"/>
          <p:nvPr/>
        </p:nvSpPr>
        <p:spPr>
          <a:xfrm>
            <a:off x="6530188" y="3803904"/>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Every comparison starts from one identical simulated state with identical windows, plus fleet curves and one-at-a-time sensitivity.</a:t>
            </a:r>
            <a:endParaRPr lang="en-US" sz="1400" dirty="0"/>
          </a:p>
        </p:txBody>
      </p:sp>
      <p:sp>
        <p:nvSpPr>
          <p:cNvPr id="16" name="Shape 14"/>
          <p:cNvSpPr/>
          <p:nvPr/>
        </p:nvSpPr>
        <p:spPr>
          <a:xfrm>
            <a:off x="685800" y="4773168"/>
            <a:ext cx="5250028" cy="1389888"/>
          </a:xfrm>
          <a:prstGeom prst="roundRect">
            <a:avLst>
              <a:gd name="adj" fmla="val 5263"/>
            </a:avLst>
          </a:prstGeom>
          <a:solidFill>
            <a:srgbClr val="FBF9F4"/>
          </a:solidFill>
          <a:ln w="9525">
            <a:solidFill>
              <a:srgbClr val="D9D2C3"/>
            </a:solidFill>
            <a:prstDash val="solid"/>
          </a:ln>
        </p:spPr>
      </p:sp>
      <p:sp>
        <p:nvSpPr>
          <p:cNvPr id="17" name="Text 15"/>
          <p:cNvSpPr txBox="1"/>
          <p:nvPr/>
        </p:nvSpPr>
        <p:spPr>
          <a:xfrm>
            <a:off x="960120" y="4937760"/>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5. Explicit credibility layer</a:t>
            </a:r>
            <a:endParaRPr lang="en-US" sz="1800" dirty="0"/>
          </a:p>
        </p:txBody>
      </p:sp>
      <p:sp>
        <p:nvSpPr>
          <p:cNvPr id="18" name="Text 16"/>
          <p:cNvSpPr txBox="1"/>
          <p:nvPr/>
        </p:nvSpPr>
        <p:spPr>
          <a:xfrm>
            <a:off x="960120" y="5321808"/>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Every number is tagged live or saved model evidence; mass balance passes only within 0.000001 t; the limits are stated inside the app.</a:t>
            </a:r>
            <a:endParaRPr lang="en-US" sz="1400" dirty="0"/>
          </a:p>
        </p:txBody>
      </p:sp>
      <p:sp>
        <p:nvSpPr>
          <p:cNvPr id="19" name="Shape 17"/>
          <p:cNvSpPr/>
          <p:nvPr/>
        </p:nvSpPr>
        <p:spPr>
          <a:xfrm>
            <a:off x="6255868" y="4773168"/>
            <a:ext cx="5250028" cy="1389888"/>
          </a:xfrm>
          <a:prstGeom prst="roundRect">
            <a:avLst>
              <a:gd name="adj" fmla="val 5263"/>
            </a:avLst>
          </a:prstGeom>
          <a:solidFill>
            <a:srgbClr val="FBF9F4"/>
          </a:solidFill>
          <a:ln w="9525">
            <a:solidFill>
              <a:srgbClr val="D9D2C3"/>
            </a:solidFill>
            <a:prstDash val="solid"/>
          </a:ln>
        </p:spPr>
      </p:sp>
      <p:sp>
        <p:nvSpPr>
          <p:cNvPr id="20" name="Text 18"/>
          <p:cNvSpPr txBox="1"/>
          <p:nvPr/>
        </p:nvSpPr>
        <p:spPr>
          <a:xfrm>
            <a:off x="6530188" y="4937760"/>
            <a:ext cx="4701388" cy="347472"/>
          </a:xfrm>
          <a:prstGeom prst="rect">
            <a:avLst/>
          </a:prstGeom>
          <a:noFill/>
          <a:ln/>
        </p:spPr>
        <p:txBody>
          <a:bodyPr wrap="square" lIns="0" tIns="0" rIns="0" bIns="0" rtlCol="0" anchor="t"/>
          <a:lstStyle/>
          <a:p>
            <a:pPr indent="0" marL="0">
              <a:lnSpc>
                <a:spcPct val="112000"/>
              </a:lnSpc>
              <a:buNone/>
            </a:pPr>
            <a:r>
              <a:rPr lang="en-US" sz="1800" b="1" dirty="0">
                <a:solidFill>
                  <a:srgbClr val="14201C"/>
                </a:solidFill>
                <a:latin typeface="Calibri" pitchFamily="34" charset="0"/>
                <a:ea typeface="Calibri" pitchFamily="34" charset="-122"/>
                <a:cs typeface="Calibri" pitchFamily="34" charset="-120"/>
              </a:rPr>
              <a:t>6. Typed relationship graph</a:t>
            </a:r>
            <a:endParaRPr lang="en-US" sz="1800" dirty="0"/>
          </a:p>
        </p:txBody>
      </p:sp>
      <p:sp>
        <p:nvSpPr>
          <p:cNvPr id="21" name="Text 19"/>
          <p:cNvSpPr txBox="1"/>
          <p:nvPr/>
        </p:nvSpPr>
        <p:spPr>
          <a:xfrm>
            <a:off x="6530188" y="5321808"/>
            <a:ext cx="4701388" cy="777240"/>
          </a:xfrm>
          <a:prstGeom prst="rect">
            <a:avLst/>
          </a:prstGeom>
          <a:noFill/>
          <a:ln/>
        </p:spPr>
        <p:txBody>
          <a:bodyPr wrap="square" lIns="0" tIns="0" rIns="0" bIns="0" rtlCol="0" anchor="t"/>
          <a:lstStyle/>
          <a:p>
            <a:pPr indent="0" marL="0">
              <a:lnSpc>
                <a:spcPct val="112000"/>
              </a:lnSpc>
              <a:buNone/>
            </a:pPr>
            <a:r>
              <a:rPr lang="en-US" sz="1400" dirty="0">
                <a:solidFill>
                  <a:srgbClr val="3F4E49"/>
                </a:solidFill>
                <a:latin typeface="Calibri" pitchFamily="34" charset="0"/>
                <a:ea typeface="Calibri" pitchFamily="34" charset="-122"/>
                <a:cs typeface="Calibri" pitchFamily="34" charset="-120"/>
              </a:rPr>
              <a:t>38 links typed as material, movement, control or hierarchy; each node opens its live twin in the 3D mine.</a:t>
            </a:r>
            <a:endParaRPr lang="en-US" sz="14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OUTCOME</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COMPLIANCE CONTEXT: KAZAKHSTAN SAFETY RULES</a:t>
            </a:r>
            <a:endParaRPr lang="en-US" sz="3000" dirty="0"/>
          </a:p>
        </p:txBody>
      </p:sp>
      <p:sp>
        <p:nvSpPr>
          <p:cNvPr id="4" name="Shape 2"/>
          <p:cNvSpPr/>
          <p:nvPr/>
        </p:nvSpPr>
        <p:spPr>
          <a:xfrm>
            <a:off x="685800" y="1828800"/>
            <a:ext cx="5227168" cy="2880360"/>
          </a:xfrm>
          <a:prstGeom prst="roundRect">
            <a:avLst>
              <a:gd name="adj" fmla="val 2540"/>
            </a:avLst>
          </a:prstGeom>
          <a:solidFill>
            <a:srgbClr val="FBF9F4"/>
          </a:solidFill>
          <a:ln w="9525">
            <a:solidFill>
              <a:srgbClr val="D9D2C3"/>
            </a:solidFill>
            <a:prstDash val="solid"/>
          </a:ln>
        </p:spPr>
      </p:sp>
      <p:sp>
        <p:nvSpPr>
          <p:cNvPr id="5" name="Text 3"/>
          <p:cNvSpPr txBox="1"/>
          <p:nvPr/>
        </p:nvSpPr>
        <p:spPr>
          <a:xfrm>
            <a:off x="1005840" y="2057400"/>
            <a:ext cx="4587088" cy="36576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Regulatory requirement</a:t>
            </a:r>
            <a:endParaRPr lang="en-US" sz="2000" dirty="0"/>
          </a:p>
        </p:txBody>
      </p:sp>
      <p:sp>
        <p:nvSpPr>
          <p:cNvPr id="6" name="Text 4"/>
          <p:cNvSpPr txBox="1"/>
          <p:nvPr/>
        </p:nvSpPr>
        <p:spPr>
          <a:xfrm>
            <a:off x="1005840" y="2560320"/>
            <a:ext cx="4587088" cy="201168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The mine’s project documentation sets safe bench heights, berm and working-platform dimensions and slope angles for the specific site.</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The working-face passport states the permitted dimensions at each face.</a:t>
            </a:r>
            <a:endParaRPr lang="en-US" sz="1500" dirty="0"/>
          </a:p>
        </p:txBody>
      </p:sp>
      <p:sp>
        <p:nvSpPr>
          <p:cNvPr id="7" name="Shape 5"/>
          <p:cNvSpPr/>
          <p:nvPr/>
        </p:nvSpPr>
        <p:spPr>
          <a:xfrm>
            <a:off x="6278728" y="1828800"/>
            <a:ext cx="5227168" cy="2880360"/>
          </a:xfrm>
          <a:prstGeom prst="roundRect">
            <a:avLst>
              <a:gd name="adj" fmla="val 2540"/>
            </a:avLst>
          </a:prstGeom>
          <a:solidFill>
            <a:srgbClr val="FBF9F4"/>
          </a:solidFill>
          <a:ln w="9525">
            <a:solidFill>
              <a:srgbClr val="D9D2C3"/>
            </a:solidFill>
            <a:prstDash val="solid"/>
          </a:ln>
        </p:spPr>
      </p:sp>
      <p:sp>
        <p:nvSpPr>
          <p:cNvPr id="8" name="Text 6"/>
          <p:cNvSpPr txBox="1"/>
          <p:nvPr/>
        </p:nvSpPr>
        <p:spPr>
          <a:xfrm>
            <a:off x="6598768" y="2057400"/>
            <a:ext cx="4587088" cy="365760"/>
          </a:xfrm>
          <a:prstGeom prst="rect">
            <a:avLst/>
          </a:prstGeom>
          <a:noFill/>
          <a:ln/>
        </p:spPr>
        <p:txBody>
          <a:bodyPr wrap="square" lIns="0" tIns="0" rIns="0" bIns="0" rtlCol="0" anchor="t"/>
          <a:lstStyle/>
          <a:p>
            <a:pPr indent="0" marL="0">
              <a:lnSpc>
                <a:spcPct val="112000"/>
              </a:lnSpc>
              <a:buNone/>
            </a:pPr>
            <a:r>
              <a:rPr lang="en-US" sz="2000" b="1" dirty="0">
                <a:solidFill>
                  <a:srgbClr val="14201C"/>
                </a:solidFill>
                <a:latin typeface="Calibri" pitchFamily="34" charset="0"/>
                <a:ea typeface="Calibri" pitchFamily="34" charset="-122"/>
                <a:cs typeface="Calibri" pitchFamily="34" charset="-120"/>
              </a:rPr>
              <a:t>Implementation in the twin</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98768" y="2560320"/>
          <a:ext cx="4587088" cy="914400"/>
        </p:xfrm>
        <a:graphic>
          <a:graphicData uri="http://schemas.openxmlformats.org/drawingml/2006/table">
            <a:tbl>
              <a:tblPr/>
              <a:tblGrid>
                <a:gridCol w="3398368"/>
                <a:gridCol w="1188720"/>
              </a:tblGrid>
              <a:tr h="0">
                <a:tc>
                  <a:txBody>
                    <a:bodyPr/>
                    <a:lstStyle/>
                    <a:p>
                      <a:pPr algn="l" indent="0" marL="0">
                        <a:buNone/>
                      </a:pPr>
                      <a:r>
                        <a:rPr lang="en-US" sz="1400" b="1" dirty="0">
                          <a:solidFill>
                            <a:srgbClr val="14201C"/>
                          </a:solidFill>
                          <a:latin typeface="Calibri" pitchFamily="34" charset="0"/>
                          <a:ea typeface="Calibri" pitchFamily="34" charset="-122"/>
                          <a:cs typeface="Calibri" pitchFamily="34" charset="-120"/>
                        </a:rPr>
                        <a:t>Illustrative value in the 3D pit</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400" b="1" dirty="0">
                          <a:solidFill>
                            <a:srgbClr val="14201C"/>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400" dirty="0">
                          <a:solidFill>
                            <a:srgbClr val="3F4E49"/>
                          </a:solidFill>
                          <a:latin typeface="Calibri" pitchFamily="34" charset="0"/>
                          <a:ea typeface="Calibri" pitchFamily="34" charset="-122"/>
                          <a:cs typeface="Calibri" pitchFamily="34" charset="-120"/>
                        </a:rPr>
                        <a:t>Bench height</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400" dirty="0">
                          <a:solidFill>
                            <a:srgbClr val="3F4E49"/>
                          </a:solidFill>
                          <a:latin typeface="Calibri" pitchFamily="34" charset="0"/>
                          <a:ea typeface="Calibri" pitchFamily="34" charset="-122"/>
                          <a:cs typeface="Calibri" pitchFamily="34" charset="-120"/>
                        </a:rPr>
                        <a:t>10 m</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400" dirty="0">
                          <a:solidFill>
                            <a:srgbClr val="3F4E49"/>
                          </a:solidFill>
                          <a:latin typeface="Calibri" pitchFamily="34" charset="0"/>
                          <a:ea typeface="Calibri" pitchFamily="34" charset="-122"/>
                          <a:cs typeface="Calibri" pitchFamily="34" charset="-120"/>
                        </a:rPr>
                        <a:t>Bench face angle</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400" dirty="0">
                          <a:solidFill>
                            <a:srgbClr val="3F4E49"/>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r h="0">
                <a:tc>
                  <a:txBody>
                    <a:bodyPr/>
                    <a:lstStyle/>
                    <a:p>
                      <a:pPr algn="l" indent="0" marL="0">
                        <a:buNone/>
                      </a:pPr>
                      <a:r>
                        <a:rPr lang="en-US" sz="1400" dirty="0">
                          <a:solidFill>
                            <a:srgbClr val="3F4E49"/>
                          </a:solidFill>
                          <a:latin typeface="Calibri" pitchFamily="34" charset="0"/>
                          <a:ea typeface="Calibri" pitchFamily="34" charset="-122"/>
                          <a:cs typeface="Calibri" pitchFamily="34" charset="-120"/>
                        </a:rPr>
                        <a:t>Working platform</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c>
                  <a:txBody>
                    <a:bodyPr/>
                    <a:lstStyle/>
                    <a:p>
                      <a:pPr algn="r" indent="0" marL="0">
                        <a:buNone/>
                      </a:pPr>
                      <a:r>
                        <a:rPr lang="en-US" sz="1400" dirty="0">
                          <a:solidFill>
                            <a:srgbClr val="3F4E49"/>
                          </a:solidFill>
                          <a:latin typeface="Calibri" pitchFamily="34" charset="0"/>
                          <a:ea typeface="Calibri" pitchFamily="34" charset="-122"/>
                          <a:cs typeface="Calibri" pitchFamily="34" charset="-120"/>
                        </a:rPr>
                        <a:t>20 m</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F3EFE6"/>
                    </a:solidFill>
                  </a:tcPr>
                </a:tc>
              </a:tr>
              <a:tr h="0">
                <a:tc>
                  <a:txBody>
                    <a:bodyPr/>
                    <a:lstStyle/>
                    <a:p>
                      <a:pPr algn="l" indent="0" marL="0">
                        <a:buNone/>
                      </a:pPr>
                      <a:r>
                        <a:rPr lang="en-US" sz="1400" dirty="0">
                          <a:solidFill>
                            <a:srgbClr val="3F4E49"/>
                          </a:solidFill>
                          <a:latin typeface="Calibri" pitchFamily="34" charset="0"/>
                          <a:ea typeface="Calibri" pitchFamily="34" charset="-122"/>
                          <a:cs typeface="Calibri" pitchFamily="34" charset="-120"/>
                        </a:rPr>
                        <a:t>Overall slope</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c>
                  <a:txBody>
                    <a:bodyPr/>
                    <a:lstStyle/>
                    <a:p>
                      <a:pPr algn="r" indent="0" marL="0">
                        <a:buNone/>
                      </a:pPr>
                      <a:r>
                        <a:rPr lang="en-US" sz="1400" dirty="0">
                          <a:solidFill>
                            <a:srgbClr val="3F4E49"/>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91440" marR="91440" marT="54864" marB="54864" anchor="ctr">
                    <a:lnL w="9525" cap="flat" cmpd="sng" algn="ctr">
                      <a:solidFill>
                        <a:srgbClr val="D9D2C3"/>
                      </a:solidFill>
                      <a:prstDash val="solid"/>
                      <a:round/>
                      <a:headEnd type="none" w="med" len="med"/>
                      <a:tailEnd type="none" w="med" len="med"/>
                    </a:lnL>
                    <a:lnR w="9525" cap="flat" cmpd="sng" algn="ctr">
                      <a:solidFill>
                        <a:srgbClr val="D9D2C3"/>
                      </a:solidFill>
                      <a:prstDash val="solid"/>
                      <a:round/>
                      <a:headEnd type="none" w="med" len="med"/>
                      <a:tailEnd type="none" w="med" len="med"/>
                    </a:lnR>
                    <a:lnT w="9525" cap="flat" cmpd="sng" algn="ctr">
                      <a:solidFill>
                        <a:srgbClr val="D9D2C3"/>
                      </a:solidFill>
                      <a:prstDash val="solid"/>
                      <a:round/>
                      <a:headEnd type="none" w="med" len="med"/>
                      <a:tailEnd type="none" w="med" len="med"/>
                    </a:lnT>
                    <a:lnB w="9525" cap="flat" cmpd="sng" algn="ctr">
                      <a:solidFill>
                        <a:srgbClr val="D9D2C3"/>
                      </a:solidFill>
                      <a:prstDash val="solid"/>
                      <a:round/>
                      <a:headEnd type="none" w="med" len="med"/>
                      <a:tailEnd type="none" w="med" len="med"/>
                    </a:lnB>
                    <a:solidFill>
                      <a:srgbClr val="EAE4D6"/>
                    </a:solidFill>
                  </a:tcPr>
                </a:tc>
              </a:tr>
            </a:tbl>
          </a:graphicData>
        </a:graphic>
      </p:graphicFrame>
      <p:sp>
        <p:nvSpPr>
          <p:cNvPr id="10" name="Text 7"/>
          <p:cNvSpPr txBox="1"/>
          <p:nvPr/>
        </p:nvSpPr>
        <p:spPr>
          <a:xfrm>
            <a:off x="685800" y="4937760"/>
            <a:ext cx="10820095" cy="822960"/>
          </a:xfrm>
          <a:prstGeom prst="rect">
            <a:avLst/>
          </a:prstGeom>
          <a:noFill/>
          <a:ln/>
        </p:spPr>
        <p:txBody>
          <a:bodyPr wrap="square" lIns="0" tIns="0" rIns="0" bIns="0" rtlCol="0" anchor="t"/>
          <a:lstStyle/>
          <a:p>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The app labels them </a:t>
            </a:r>
            <a:pPr indent="0" marL="0">
              <a:lnSpc>
                <a:spcPct val="112000"/>
              </a:lnSpc>
              <a:buNone/>
            </a:pPr>
            <a:r>
              <a:rPr lang="en-US" sz="1500" b="1" dirty="0">
                <a:solidFill>
                  <a:srgbClr val="14201C"/>
                </a:solidFill>
                <a:latin typeface="Calibri" pitchFamily="34" charset="0"/>
                <a:ea typeface="Calibri" pitchFamily="34" charset="-122"/>
                <a:cs typeface="Calibri" pitchFamily="34" charset="-120"/>
              </a:rPr>
              <a:t>“Illustrative assumptions for a conceptual project, not approved Kazakhstan design values.”</a:t>
            </a:r>
            <a:pPr indent="0" marL="0">
              <a:lnSpc>
                <a:spcPct val="112000"/>
              </a:lnSpc>
              <a:buNone/>
            </a:pPr>
            <a:r>
              <a:rPr lang="en-US" sz="1500" dirty="0">
                <a:solidFill>
                  <a:srgbClr val="3F4E49"/>
                </a:solidFill>
                <a:latin typeface="Calibri" pitchFamily="34" charset="0"/>
                <a:ea typeface="Calibri" pitchFamily="34" charset="-122"/>
                <a:cs typeface="Calibri" pitchFamily="34" charset="-120"/>
              </a:rPr>
              <a:t> On a real site they are replaced by the approved project documentation and face passports, and checked by a qualified mining engineer.</a:t>
            </a:r>
            <a:endParaRPr lang="en-US" sz="1500" dirty="0"/>
          </a:p>
        </p:txBody>
      </p:sp>
      <p:sp>
        <p:nvSpPr>
          <p:cNvPr id="11" name="Text 8"/>
          <p:cNvSpPr txBox="1"/>
          <p:nvPr/>
        </p:nvSpPr>
        <p:spPr>
          <a:xfrm>
            <a:off x="685800" y="5852160"/>
            <a:ext cx="10820095" cy="274320"/>
          </a:xfrm>
          <a:prstGeom prst="rect">
            <a:avLst/>
          </a:prstGeom>
          <a:noFill/>
          <a:ln/>
        </p:spPr>
        <p:txBody>
          <a:bodyPr wrap="square" lIns="0" tIns="0" rIns="0" bIns="0" rtlCol="0" anchor="t"/>
          <a:lstStyle/>
          <a:p>
            <a:pPr indent="0" marL="0">
              <a:lnSpc>
                <a:spcPct val="112000"/>
              </a:lnSpc>
              <a:buNone/>
            </a:pPr>
            <a:r>
              <a:rPr lang="en-US" sz="1100" dirty="0">
                <a:solidFill>
                  <a:srgbClr val="5E6D68"/>
                </a:solidFill>
                <a:latin typeface="Calibri" pitchFamily="34" charset="0"/>
                <a:ea typeface="Calibri" pitchFamily="34" charset="-122"/>
                <a:cs typeface="Calibri" pitchFamily="34" charset="-120"/>
              </a:rPr>
              <a:t>Source: Kazakhstan industrial safety rules for open-pit mining</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85800" y="457200"/>
            <a:ext cx="10820095" cy="292608"/>
          </a:xfrm>
          <a:prstGeom prst="rect">
            <a:avLst/>
          </a:prstGeom>
          <a:noFill/>
          <a:ln/>
        </p:spPr>
        <p:txBody>
          <a:bodyPr wrap="square" lIns="0" tIns="0" rIns="0" bIns="0" rtlCol="0"/>
          <a:lstStyle/>
          <a:p>
            <a:pPr indent="0" marL="0">
              <a:buNone/>
            </a:pPr>
            <a:r>
              <a:rPr lang="en-US" sz="1300" b="1" spc="100" kern="0" dirty="0">
                <a:solidFill>
                  <a:srgbClr val="0F7D72"/>
                </a:solidFill>
                <a:latin typeface="Calibri" pitchFamily="34" charset="0"/>
                <a:ea typeface="Calibri" pitchFamily="34" charset="-122"/>
                <a:cs typeface="Calibri" pitchFamily="34" charset="-120"/>
              </a:rPr>
              <a:t>CONCLUSION</a:t>
            </a:r>
            <a:endParaRPr lang="en-US" sz="1300" dirty="0"/>
          </a:p>
        </p:txBody>
      </p:sp>
      <p:sp>
        <p:nvSpPr>
          <p:cNvPr id="3" name="Text 1"/>
          <p:cNvSpPr/>
          <p:nvPr>
            <p:ph idx="102" type="title" hasCustomPrompt="1"/>
          </p:nvPr>
        </p:nvSpPr>
        <p:spPr>
          <a:xfrm>
            <a:off x="685800" y="777240"/>
            <a:ext cx="10820095" cy="868680"/>
          </a:xfrm>
          <a:prstGeom prst="rect">
            <a:avLst/>
          </a:prstGeom>
          <a:noFill/>
          <a:ln/>
        </p:spPr>
        <p:txBody>
          <a:bodyPr wrap="square" lIns="0" tIns="0" rIns="0" bIns="0" rtlCol="0" anchor="t"/>
          <a:lstStyle/>
          <a:p>
            <a:pPr algn="l" indent="0" marL="0">
              <a:buNone/>
            </a:pPr>
            <a:r>
              <a:rPr lang="en-US" sz="3000" b="1" dirty="0">
                <a:solidFill>
                  <a:srgbClr val="14201C"/>
                </a:solidFill>
                <a:latin typeface="Calibri" pitchFamily="34" charset="0"/>
                <a:ea typeface="Calibri" pitchFamily="34" charset="-122"/>
                <a:cs typeface="Calibri" pitchFamily="34" charset="-120"/>
              </a:rPr>
              <a:t>CONTRIBUTIONS AND NOVELTY OF THE PROJECT</a:t>
            </a:r>
            <a:endParaRPr lang="en-US" sz="3000" dirty="0"/>
          </a:p>
        </p:txBody>
      </p:sp>
      <p:sp>
        <p:nvSpPr>
          <p:cNvPr id="4" name="Shape 2"/>
          <p:cNvSpPr/>
          <p:nvPr/>
        </p:nvSpPr>
        <p:spPr>
          <a:xfrm>
            <a:off x="685800" y="1828800"/>
            <a:ext cx="5227168" cy="3474720"/>
          </a:xfrm>
          <a:prstGeom prst="roundRect">
            <a:avLst>
              <a:gd name="adj" fmla="val 2105"/>
            </a:avLst>
          </a:prstGeom>
          <a:solidFill>
            <a:srgbClr val="FBF9F4"/>
          </a:solidFill>
          <a:ln w="9525">
            <a:solidFill>
              <a:srgbClr val="D9D2C3"/>
            </a:solidFill>
            <a:prstDash val="solid"/>
          </a:ln>
        </p:spPr>
      </p:sp>
      <p:sp>
        <p:nvSpPr>
          <p:cNvPr id="5" name="Text 3"/>
          <p:cNvSpPr txBox="1"/>
          <p:nvPr/>
        </p:nvSpPr>
        <p:spPr>
          <a:xfrm>
            <a:off x="1005840" y="2057400"/>
            <a:ext cx="4587088" cy="384048"/>
          </a:xfrm>
          <a:prstGeom prst="rect">
            <a:avLst/>
          </a:prstGeom>
          <a:noFill/>
          <a:ln/>
        </p:spPr>
        <p:txBody>
          <a:bodyPr wrap="square" lIns="0" tIns="0" rIns="0" bIns="0" rtlCol="0" anchor="t"/>
          <a:lstStyle/>
          <a:p>
            <a:pPr indent="0" marL="0">
              <a:lnSpc>
                <a:spcPct val="112000"/>
              </a:lnSpc>
              <a:buNone/>
            </a:pPr>
            <a:r>
              <a:rPr lang="en-US" sz="2200" b="1" dirty="0">
                <a:solidFill>
                  <a:srgbClr val="0F7D72"/>
                </a:solidFill>
                <a:latin typeface="Calibri" pitchFamily="34" charset="0"/>
                <a:ea typeface="Calibri" pitchFamily="34" charset="-122"/>
                <a:cs typeface="Calibri" pitchFamily="34" charset="-120"/>
              </a:rPr>
              <a:t>Contributions</a:t>
            </a:r>
            <a:endParaRPr lang="en-US" sz="2200" dirty="0"/>
          </a:p>
        </p:txBody>
      </p:sp>
      <p:sp>
        <p:nvSpPr>
          <p:cNvPr id="6" name="Text 4"/>
          <p:cNvSpPr txBox="1"/>
          <p:nvPr/>
        </p:nvSpPr>
        <p:spPr>
          <a:xfrm>
            <a:off x="1005840" y="2606040"/>
            <a:ext cx="4587088" cy="256032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11 live Eclipse Ditto twins of a full face-to-crusher chain</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A deterministic simulation with FIFO queues and 0 t mass-balance error</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A 3D command center drawn only from returned twin state</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Three disruptions, Smart Dispatch and a Decision workspace</a:t>
            </a:r>
            <a:endParaRPr lang="en-US" sz="1500" dirty="0"/>
          </a:p>
        </p:txBody>
      </p:sp>
      <p:sp>
        <p:nvSpPr>
          <p:cNvPr id="7" name="Shape 5"/>
          <p:cNvSpPr/>
          <p:nvPr/>
        </p:nvSpPr>
        <p:spPr>
          <a:xfrm>
            <a:off x="6278728" y="1828800"/>
            <a:ext cx="5227168" cy="3474720"/>
          </a:xfrm>
          <a:prstGeom prst="roundRect">
            <a:avLst>
              <a:gd name="adj" fmla="val 2105"/>
            </a:avLst>
          </a:prstGeom>
          <a:solidFill>
            <a:srgbClr val="FBF9F4"/>
          </a:solidFill>
          <a:ln w="9525">
            <a:solidFill>
              <a:srgbClr val="D9D2C3"/>
            </a:solidFill>
            <a:prstDash val="solid"/>
          </a:ln>
        </p:spPr>
      </p:sp>
      <p:sp>
        <p:nvSpPr>
          <p:cNvPr id="8" name="Text 6"/>
          <p:cNvSpPr txBox="1"/>
          <p:nvPr/>
        </p:nvSpPr>
        <p:spPr>
          <a:xfrm>
            <a:off x="6598768" y="2057400"/>
            <a:ext cx="4587088" cy="384048"/>
          </a:xfrm>
          <a:prstGeom prst="rect">
            <a:avLst/>
          </a:prstGeom>
          <a:noFill/>
          <a:ln/>
        </p:spPr>
        <p:txBody>
          <a:bodyPr wrap="square" lIns="0" tIns="0" rIns="0" bIns="0" rtlCol="0" anchor="t"/>
          <a:lstStyle/>
          <a:p>
            <a:pPr indent="0" marL="0">
              <a:lnSpc>
                <a:spcPct val="112000"/>
              </a:lnSpc>
              <a:buNone/>
            </a:pPr>
            <a:r>
              <a:rPr lang="en-US" sz="2200" b="1" dirty="0">
                <a:solidFill>
                  <a:srgbClr val="9A5B12"/>
                </a:solidFill>
                <a:latin typeface="Calibri" pitchFamily="34" charset="0"/>
                <a:ea typeface="Calibri" pitchFamily="34" charset="-122"/>
                <a:cs typeface="Calibri" pitchFamily="34" charset="-120"/>
              </a:rPr>
              <a:t>Novelty</a:t>
            </a:r>
            <a:endParaRPr lang="en-US" sz="2200" dirty="0"/>
          </a:p>
        </p:txBody>
      </p:sp>
      <p:sp>
        <p:nvSpPr>
          <p:cNvPr id="9" name="Text 7"/>
          <p:cNvSpPr txBox="1"/>
          <p:nvPr/>
        </p:nvSpPr>
        <p:spPr>
          <a:xfrm>
            <a:off x="6598768" y="2606040"/>
            <a:ext cx="4587088" cy="2560320"/>
          </a:xfrm>
          <a:prstGeom prst="rect">
            <a:avLst/>
          </a:prstGeom>
          <a:noFill/>
          <a:ln/>
        </p:spPr>
        <p:txBody>
          <a:bodyPr wrap="square" lIns="0" tIns="0" rIns="0" bIns="0" rtlCol="0" anchor="t"/>
          <a:lstStyle/>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Decisions applied through the real control, confirmed by the twins</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Fleet sized to the bottleneck: same 770 t/h, 33 % fewer truck-hours</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Direction-aware breakdowns and matched-start evidence</a:t>
            </a:r>
            <a:endParaRPr lang="en-US" sz="1500" dirty="0"/>
          </a:p>
          <a:p>
            <a:pPr marL="342900" indent="-342900">
              <a:lnSpc>
                <a:spcPct val="112000"/>
              </a:lnSpc>
              <a:spcAft>
                <a:spcPts val="800"/>
              </a:spcAft>
              <a:buSzPct val="100000"/>
              <a:buChar char="•"/>
            </a:pPr>
            <a:r>
              <a:rPr lang="en-US" sz="1500" dirty="0">
                <a:solidFill>
                  <a:srgbClr val="3F4E49"/>
                </a:solidFill>
                <a:latin typeface="Calibri" pitchFamily="34" charset="0"/>
                <a:ea typeface="Calibri" pitchFamily="34" charset="-122"/>
                <a:cs typeface="Calibri" pitchFamily="34" charset="-120"/>
              </a:rPr>
              <a:t>A truth layer: every number tagged live or saved evidence</a:t>
            </a:r>
            <a:endParaRPr lang="en-US" sz="1500" dirty="0"/>
          </a:p>
        </p:txBody>
      </p:sp>
      <p:sp>
        <p:nvSpPr>
          <p:cNvPr id="10" name="Text 8"/>
          <p:cNvSpPr txBox="1"/>
          <p:nvPr/>
        </p:nvSpPr>
        <p:spPr>
          <a:xfrm>
            <a:off x="685800" y="5623560"/>
            <a:ext cx="10820095" cy="365760"/>
          </a:xfrm>
          <a:prstGeom prst="rect">
            <a:avLst/>
          </a:prstGeom>
          <a:noFill/>
          <a:ln/>
        </p:spPr>
        <p:txBody>
          <a:bodyPr wrap="square" lIns="0" tIns="0" rIns="0" bIns="0" rtlCol="0" anchor="t"/>
          <a:lstStyle/>
          <a:p>
            <a:pPr indent="0" marL="0">
              <a:lnSpc>
                <a:spcPct val="112000"/>
              </a:lnSpc>
              <a:buNone/>
            </a:pPr>
            <a:r>
              <a:rPr lang="en-US" sz="1300" dirty="0">
                <a:solidFill>
                  <a:srgbClr val="5E6D68"/>
                </a:solidFill>
                <a:latin typeface="Calibri" pitchFamily="34" charset="0"/>
                <a:ea typeface="Calibri" pitchFamily="34" charset="-122"/>
                <a:cs typeface="Calibri" pitchFamily="34" charset="-120"/>
              </a:rPr>
              <a:t>Scope: a deterministic conceptual model on synthetic telemetry, verified against its formulas and not validated against an operating mine.</a:t>
            </a:r>
            <a:endParaRPr lang="en-US" sz="13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6D6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Team Ademix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Pit Digital Twin</dc:title>
  <dc:subject>Digital Mine on OpenEgiz 2026</dc:subject>
  <dc:creator>Ahmad Shah Yawar; Gulzat Turken</dc:creator>
  <cp:lastModifiedBy>Ahmad Shah Yawar; Gulzat Turken</cp:lastModifiedBy>
  <cp:revision>1</cp:revision>
  <dcterms:created xsi:type="dcterms:W3CDTF">2026-10-25T15:17:50Z</dcterms:created>
  <dcterms:modified xsi:type="dcterms:W3CDTF">2026-10-25T15:17:50Z</dcterms:modified>
</cp:coreProperties>
</file>